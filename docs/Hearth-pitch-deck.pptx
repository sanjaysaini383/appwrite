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9697a9eb-c0e8-a42e-e2eb-83282814d16c}">
          <p14:sldIdLst>
            <p14:sldId id="256"/>
          </p14:sldIdLst>
        </p14:section>
        <p14:section name="Problem and solution" id="{ace6905a-47ac-3ffd-3e0e-cf448172ef29}">
          <p14:sldIdLst>
            <p14:sldId id="257"/>
            <p14:sldId id="258"/>
          </p14:sldIdLst>
        </p14:section>
        <p14:section name="Product" id="{2bbcc605-0db1-4d6b-587b-222b08da2ecb}">
          <p14:sldIdLst>
            <p14:sldId id="259"/>
          </p14:sldIdLst>
        </p14:section>
        <p14:section name="Appwrite TablesDB" id="{9226b45a-84ea-1213-28d5-08161b9c0fd4}">
          <p14:sldIdLst>
            <p14:sldId id="260"/>
            <p14:sldId id="261"/>
            <p14:sldId id="262"/>
            <p14:sldId id="263"/>
          </p14:sldIdLst>
        </p14:section>
        <p14:section name="Results" id="{8a5486a1-70dc-7baf-5391-b578a4d56b80}">
          <p14:sldIdLst>
            <p14:sldId id="264"/>
            <p14:sldId id="265"/>
          </p14:sldIdLst>
        </p14:section>
        <p14:section name="Closing" id="{898fbf10-ae61-a5c9-e586-ad514f9ad211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Hearth is a hyperlocal mutual-aid app: neighbours post small requests or offers on a live map, someone nearby claims it, they chat, and it ends with kudos. Everything runs on Appwrite TablesDB with no custom backend.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need is real but the channels are wrong: noisy group chats, no spatial view, and no bounded way to ask or close the 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steps: post, claim, coordinate, complete. The claim and completion steps are where the interesting database work happens.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main screen: map on the right, feed and filters on the left. Category pins, a radius ring, and the pulse counts at the top of the feed.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core of the submission: Hearth uses TablesDB the way a real product would, not just CRUD. Eight distinct capabilities, each with a concrete job in the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Deleting a post cascades its thread; kudos survive with the link nulled. The schema is provisioned by an idempotent script (npm run setup) using the server SDK.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conflict path is not theoretical: the smoke test forces a concurrent claim and asserts that Appwrite returns 409 transaction_conflict and keeps the first claimer.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it from the TablesDB button on the map. It is the fastest way to see that the radius search, aggregations and transactions are real database calls.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shown was tested against a real Appwrite Cloud project, not mocks: a scripted smoke test plus a two-browser Playwright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next step builds on another Appwrite product, keeping the zero-custom-server architecture.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you. The repository has setup instructions, the smoke test and the demo script.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331720"/>
            <a:ext cx="51206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383280"/>
            <a:ext cx="51206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Hearth  ·  Appwrite Databases Hackathon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691640"/>
            <a:ext cx="6126480" cy="1325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17320"/>
            <a:ext cx="731520" cy="73152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233172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Hearth</a:t>
            </a:r>
            <a:endParaRPr lang="en-US" sz="6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640080" y="338328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Your neighbourhood, on a live map. Ask for a hand, or lend one.</a:t>
            </a:r>
            <a:endParaRPr lang="en-US" sz="2200" dirty="0"/>
          </a:p>
        </p:txBody>
      </p:sp>
      <p:sp>
        <p:nvSpPr>
          <p:cNvPr id="5" name="Tagline"/>
          <p:cNvSpPr txBox="1"/>
          <p:nvPr/>
        </p:nvSpPr>
        <p:spPr>
          <a:xfrm>
            <a:off x="640080" y="45720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</a:rPr>
              <a:t>Built on Appwrite TablesDB  ·  Appwrite Databases Hackathon 2026</a:t>
            </a:r>
            <a:endParaRPr lang="en-US" sz="1300" dirty="0"/>
          </a:p>
        </p:txBody>
      </p:sp>
      <p:sp>
        <p:nvSpPr>
          <p:cNvPr id="6" name="Author"/>
          <p:cNvSpPr txBox="1"/>
          <p:nvPr/>
        </p:nvSpPr>
        <p:spPr>
          <a:xfrm>
            <a:off x="640080" y="49834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Sanjay Saini</a:t>
            </a:r>
            <a:endParaRPr lang="en-US" sz="1300" dirty="0"/>
          </a:p>
        </p:txBody>
      </p:sp>
      <p:sp>
        <p:nvSpPr>
          <p:cNvPr id="7" name="Product screenshot frame"/>
          <p:cNvSpPr/>
          <p:nvPr/>
        </p:nvSpPr>
        <p:spPr>
          <a:xfrm>
            <a:off x="6208776" y="1408176"/>
            <a:ext cx="5504688" cy="3483864"/>
          </a:xfrm>
          <a:prstGeom prst="roundRect">
            <a:avLst>
              <a:gd name="adj" fmla="val 2625"/>
            </a:avLst>
          </a:prstGeom>
          <a:solidFill>
            <a:schemeClr val="bg2"/>
          </a:solidFill>
          <a:ln w="9525">
            <a:solidFill>
              <a:srgbClr val="D4D4D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8" name="Product screenshot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463040"/>
            <a:ext cx="5394960" cy="33741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Most people would help a neighbour, if they knew</a:t>
            </a:r>
            <a:endParaRPr lang="en-US" sz="3200" dirty="0"/>
          </a:p>
        </p:txBody>
      </p:sp>
      <p:sp>
        <p:nvSpPr>
          <p:cNvPr id="3" name="Lead"/>
          <p:cNvSpPr txBox="1"/>
          <p:nvPr/>
        </p:nvSpPr>
        <p:spPr>
          <a:xfrm>
            <a:off x="548640" y="12344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Small, everyday needs go unmet because there is no simple, local, low-pressure way to ask or to offer.</a:t>
            </a:r>
            <a:endParaRPr lang="en-US" sz="1800" dirty="0"/>
          </a:p>
        </p:txBody>
      </p:sp>
      <p:sp>
        <p:nvSpPr>
          <p:cNvPr id="4" name="Problem 1"/>
          <p:cNvSpPr/>
          <p:nvPr/>
        </p:nvSpPr>
        <p:spPr>
          <a:xfrm>
            <a:off x="548640" y="2240280"/>
            <a:ext cx="347472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roblem 1 badge"/>
          <p:cNvSpPr/>
          <p:nvPr/>
        </p:nvSpPr>
        <p:spPr>
          <a:xfrm>
            <a:off x="868680" y="2560320"/>
            <a:ext cx="640080" cy="640080"/>
          </a:xfrm>
          <a:prstGeom prst="ellipse">
            <a:avLst/>
          </a:prstGeom>
          <a:solidFill>
            <a:schemeClr val="accent1">
              <a:alpha val="12000"/>
            </a:schemeClr>
          </a:solidFill>
          <a:ln w="12700">
            <a:solidFill>
              <a:schemeClr val="accent1">
                <a:alpha val="12000"/>
              </a:schemeClr>
            </a:solidFill>
            <a:prstDash val="solid"/>
          </a:ln>
        </p:spPr>
      </p:sp>
      <p:pic>
        <p:nvPicPr>
          <p:cNvPr id="6" name="Problem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" y="2713939"/>
            <a:ext cx="332842" cy="332842"/>
          </a:xfrm>
          <a:prstGeom prst="rect">
            <a:avLst/>
          </a:prstGeom>
        </p:spPr>
      </p:pic>
      <p:sp>
        <p:nvSpPr>
          <p:cNvPr id="7" name="Problem 1 head"/>
          <p:cNvSpPr txBox="1"/>
          <p:nvPr/>
        </p:nvSpPr>
        <p:spPr>
          <a:xfrm>
            <a:off x="868680" y="342900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Group chats bury requests</a:t>
            </a:r>
            <a:endParaRPr lang="en-US" sz="1900" dirty="0"/>
          </a:p>
        </p:txBody>
      </p:sp>
      <p:sp>
        <p:nvSpPr>
          <p:cNvPr id="8" name="Problem 1 text"/>
          <p:cNvSpPr txBox="1"/>
          <p:nvPr/>
        </p:nvSpPr>
        <p:spPr>
          <a:xfrm>
            <a:off x="868680" y="416052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A 400-person WhatsApp group is noisy; an ask for a ladder scrolls away in minutes.</a:t>
            </a:r>
            <a:endParaRPr lang="en-US" sz="1500" dirty="0"/>
          </a:p>
        </p:txBody>
      </p:sp>
      <p:sp>
        <p:nvSpPr>
          <p:cNvPr id="9" name="Problem 2"/>
          <p:cNvSpPr/>
          <p:nvPr/>
        </p:nvSpPr>
        <p:spPr>
          <a:xfrm>
            <a:off x="4297680" y="2240280"/>
            <a:ext cx="347472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Problem 2 badge"/>
          <p:cNvSpPr/>
          <p:nvPr/>
        </p:nvSpPr>
        <p:spPr>
          <a:xfrm>
            <a:off x="4617720" y="2560320"/>
            <a:ext cx="640080" cy="640080"/>
          </a:xfrm>
          <a:prstGeom prst="ellipse">
            <a:avLst/>
          </a:prstGeom>
          <a:solidFill>
            <a:schemeClr val="accent1">
              <a:alpha val="12000"/>
            </a:schemeClr>
          </a:solidFill>
          <a:ln w="12700">
            <a:solidFill>
              <a:schemeClr val="accent1">
                <a:alpha val="12000"/>
              </a:schemeClr>
            </a:solidFill>
            <a:prstDash val="solid"/>
          </a:ln>
        </p:spPr>
      </p:sp>
      <p:pic>
        <p:nvPicPr>
          <p:cNvPr id="11" name="Problem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1339" y="2713939"/>
            <a:ext cx="332842" cy="332842"/>
          </a:xfrm>
          <a:prstGeom prst="rect">
            <a:avLst/>
          </a:prstGeom>
        </p:spPr>
      </p:pic>
      <p:sp>
        <p:nvSpPr>
          <p:cNvPr id="12" name="Problem 2 head"/>
          <p:cNvSpPr txBox="1"/>
          <p:nvPr/>
        </p:nvSpPr>
        <p:spPr>
          <a:xfrm>
            <a:off x="4617720" y="342900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Nobody can see what is nearby</a:t>
            </a:r>
            <a:endParaRPr lang="en-US" sz="1900" dirty="0"/>
          </a:p>
        </p:txBody>
      </p:sp>
      <p:sp>
        <p:nvSpPr>
          <p:cNvPr id="13" name="Problem 2 text"/>
          <p:cNvSpPr txBox="1"/>
          <p:nvPr/>
        </p:nvSpPr>
        <p:spPr>
          <a:xfrm>
            <a:off x="4617720" y="416052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Helpers have no view of who needs what within a few streets of them.</a:t>
            </a:r>
            <a:endParaRPr lang="en-US" sz="1500" dirty="0"/>
          </a:p>
        </p:txBody>
      </p:sp>
      <p:sp>
        <p:nvSpPr>
          <p:cNvPr id="14" name="Problem 3"/>
          <p:cNvSpPr/>
          <p:nvPr/>
        </p:nvSpPr>
        <p:spPr>
          <a:xfrm>
            <a:off x="8046720" y="2240280"/>
            <a:ext cx="347472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Problem 3 badge"/>
          <p:cNvSpPr/>
          <p:nvPr/>
        </p:nvSpPr>
        <p:spPr>
          <a:xfrm>
            <a:off x="8366760" y="2560320"/>
            <a:ext cx="640080" cy="640080"/>
          </a:xfrm>
          <a:prstGeom prst="ellipse">
            <a:avLst/>
          </a:prstGeom>
          <a:solidFill>
            <a:schemeClr val="accent1">
              <a:alpha val="12000"/>
            </a:schemeClr>
          </a:solidFill>
          <a:ln w="12700">
            <a:solidFill>
              <a:schemeClr val="accent1">
                <a:alpha val="12000"/>
              </a:schemeClr>
            </a:solidFill>
            <a:prstDash val="solid"/>
          </a:ln>
        </p:spPr>
      </p:sp>
      <p:pic>
        <p:nvPicPr>
          <p:cNvPr id="16" name="Problem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0379" y="2713939"/>
            <a:ext cx="332842" cy="332842"/>
          </a:xfrm>
          <a:prstGeom prst="rect">
            <a:avLst/>
          </a:prstGeom>
        </p:spPr>
      </p:pic>
      <p:sp>
        <p:nvSpPr>
          <p:cNvPr id="17" name="Problem 3 head"/>
          <p:cNvSpPr txBox="1"/>
          <p:nvPr/>
        </p:nvSpPr>
        <p:spPr>
          <a:xfrm>
            <a:off x="8366760" y="342900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Asking feels like a burden</a:t>
            </a:r>
            <a:endParaRPr lang="en-US" sz="1900" dirty="0"/>
          </a:p>
        </p:txBody>
      </p:sp>
      <p:sp>
        <p:nvSpPr>
          <p:cNvPr id="18" name="Problem 3 text"/>
          <p:cNvSpPr txBox="1"/>
          <p:nvPr/>
        </p:nvSpPr>
        <p:spPr>
          <a:xfrm>
            <a:off x="8366760" y="416052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Without a clear, bounded ask and a way to say thanks, people simply don’t ask.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Hearth turns small asks into neighbourly help</a:t>
            </a:r>
            <a:endParaRPr lang="en-US" sz="3200" dirty="0"/>
          </a:p>
        </p:txBody>
      </p:sp>
      <p:sp>
        <p:nvSpPr>
          <p:cNvPr id="3" name="Step 1"/>
          <p:cNvSpPr/>
          <p:nvPr/>
        </p:nvSpPr>
        <p:spPr>
          <a:xfrm>
            <a:off x="548640" y="1600200"/>
            <a:ext cx="2514600" cy="356616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ep 1 badge"/>
          <p:cNvSpPr/>
          <p:nvPr/>
        </p:nvSpPr>
        <p:spPr>
          <a:xfrm>
            <a:off x="822960" y="1920240"/>
            <a:ext cx="640080" cy="640080"/>
          </a:xfrm>
          <a:prstGeom prst="ellipse">
            <a:avLst/>
          </a:prstGeom>
          <a:solidFill>
            <a:schemeClr val="accent1">
              <a:alpha val="12000"/>
            </a:schemeClr>
          </a:solidFill>
          <a:ln w="12700">
            <a:solidFill>
              <a:schemeClr val="accent1">
                <a:alpha val="12000"/>
              </a:schemeClr>
            </a:solidFill>
            <a:prstDash val="solid"/>
          </a:ln>
        </p:spPr>
      </p:sp>
      <p:pic>
        <p:nvPicPr>
          <p:cNvPr id="5" name="Step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2073859"/>
            <a:ext cx="332842" cy="332842"/>
          </a:xfrm>
          <a:prstGeom prst="rect">
            <a:avLst/>
          </a:prstGeom>
        </p:spPr>
      </p:pic>
      <p:sp>
        <p:nvSpPr>
          <p:cNvPr id="6" name="Step 1 number"/>
          <p:cNvSpPr txBox="1"/>
          <p:nvPr/>
        </p:nvSpPr>
        <p:spPr>
          <a:xfrm>
            <a:off x="2148840" y="19659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01</a:t>
            </a:r>
            <a:endParaRPr lang="en-US" sz="2000" dirty="0"/>
          </a:p>
        </p:txBody>
      </p:sp>
      <p:sp>
        <p:nvSpPr>
          <p:cNvPr id="7" name="Step 1 head"/>
          <p:cNvSpPr txBox="1"/>
          <p:nvPr/>
        </p:nvSpPr>
        <p:spPr>
          <a:xfrm>
            <a:off x="822960" y="28346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Post</a:t>
            </a:r>
            <a:endParaRPr lang="en-US" sz="2200" dirty="0"/>
          </a:p>
        </p:txBody>
      </p:sp>
      <p:sp>
        <p:nvSpPr>
          <p:cNvPr id="8" name="Step 1 text"/>
          <p:cNvSpPr txBox="1"/>
          <p:nvPr/>
        </p:nvSpPr>
        <p:spPr>
          <a:xfrm>
            <a:off x="822960" y="3383280"/>
            <a:ext cx="1965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Pin a request or an offer to your street. It is visible to neighbours within their search radius.</a:t>
            </a:r>
            <a:endParaRPr lang="en-US" sz="1500" dirty="0"/>
          </a:p>
        </p:txBody>
      </p:sp>
      <p:sp>
        <p:nvSpPr>
          <p:cNvPr id="9" name="Arrow 1"/>
          <p:cNvSpPr/>
          <p:nvPr/>
        </p:nvSpPr>
        <p:spPr>
          <a:xfrm>
            <a:off x="3108960" y="2240280"/>
            <a:ext cx="246888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0" name="Step 2"/>
          <p:cNvSpPr/>
          <p:nvPr/>
        </p:nvSpPr>
        <p:spPr>
          <a:xfrm>
            <a:off x="3401568" y="1600200"/>
            <a:ext cx="2514600" cy="356616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Step 2 badge"/>
          <p:cNvSpPr/>
          <p:nvPr/>
        </p:nvSpPr>
        <p:spPr>
          <a:xfrm>
            <a:off x="3675888" y="1920240"/>
            <a:ext cx="640080" cy="640080"/>
          </a:xfrm>
          <a:prstGeom prst="ellipse">
            <a:avLst/>
          </a:prstGeom>
          <a:solidFill>
            <a:schemeClr val="accent1">
              <a:alpha val="12000"/>
            </a:schemeClr>
          </a:solidFill>
          <a:ln w="12700">
            <a:solidFill>
              <a:schemeClr val="accent1">
                <a:alpha val="12000"/>
              </a:schemeClr>
            </a:solidFill>
            <a:prstDash val="solid"/>
          </a:ln>
        </p:spPr>
      </p:sp>
      <p:pic>
        <p:nvPicPr>
          <p:cNvPr id="12" name="Step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9507" y="2073859"/>
            <a:ext cx="332842" cy="332842"/>
          </a:xfrm>
          <a:prstGeom prst="rect">
            <a:avLst/>
          </a:prstGeom>
        </p:spPr>
      </p:pic>
      <p:sp>
        <p:nvSpPr>
          <p:cNvPr id="13" name="Step 2 number"/>
          <p:cNvSpPr txBox="1"/>
          <p:nvPr/>
        </p:nvSpPr>
        <p:spPr>
          <a:xfrm>
            <a:off x="5001768" y="19659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02</a:t>
            </a:r>
            <a:endParaRPr lang="en-US" sz="2000" dirty="0"/>
          </a:p>
        </p:txBody>
      </p:sp>
      <p:sp>
        <p:nvSpPr>
          <p:cNvPr id="14" name="Step 2 head"/>
          <p:cNvSpPr txBox="1"/>
          <p:nvPr/>
        </p:nvSpPr>
        <p:spPr>
          <a:xfrm>
            <a:off x="3675888" y="28346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Claim</a:t>
            </a:r>
            <a:endParaRPr lang="en-US" sz="2200" dirty="0"/>
          </a:p>
        </p:txBody>
      </p:sp>
      <p:sp>
        <p:nvSpPr>
          <p:cNvPr id="15" name="Step 2 text"/>
          <p:cNvSpPr txBox="1"/>
          <p:nvPr/>
        </p:nvSpPr>
        <p:spPr>
          <a:xfrm>
            <a:off x="3675888" y="3383280"/>
            <a:ext cx="1965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A neighbour taps “I can help”. Claims are race-safe, so nobody is double-booked.</a:t>
            </a:r>
            <a:endParaRPr lang="en-US" sz="1500" dirty="0"/>
          </a:p>
        </p:txBody>
      </p:sp>
      <p:sp>
        <p:nvSpPr>
          <p:cNvPr id="16" name="Arrow 2"/>
          <p:cNvSpPr/>
          <p:nvPr/>
        </p:nvSpPr>
        <p:spPr>
          <a:xfrm>
            <a:off x="5961888" y="2240280"/>
            <a:ext cx="246888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7" name="Step 3"/>
          <p:cNvSpPr/>
          <p:nvPr/>
        </p:nvSpPr>
        <p:spPr>
          <a:xfrm>
            <a:off x="6254496" y="1600200"/>
            <a:ext cx="2514600" cy="356616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Step 3 badge"/>
          <p:cNvSpPr/>
          <p:nvPr/>
        </p:nvSpPr>
        <p:spPr>
          <a:xfrm>
            <a:off x="6528816" y="1920240"/>
            <a:ext cx="640080" cy="640080"/>
          </a:xfrm>
          <a:prstGeom prst="ellipse">
            <a:avLst/>
          </a:prstGeom>
          <a:solidFill>
            <a:schemeClr val="accent1">
              <a:alpha val="12000"/>
            </a:schemeClr>
          </a:solidFill>
          <a:ln w="12700">
            <a:solidFill>
              <a:schemeClr val="accent1">
                <a:alpha val="12000"/>
              </a:schemeClr>
            </a:solidFill>
            <a:prstDash val="solid"/>
          </a:ln>
        </p:spPr>
      </p:sp>
      <p:pic>
        <p:nvPicPr>
          <p:cNvPr id="19" name="Step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2435" y="2073859"/>
            <a:ext cx="332842" cy="332842"/>
          </a:xfrm>
          <a:prstGeom prst="rect">
            <a:avLst/>
          </a:prstGeom>
        </p:spPr>
      </p:pic>
      <p:sp>
        <p:nvSpPr>
          <p:cNvPr id="20" name="Step 3 number"/>
          <p:cNvSpPr txBox="1"/>
          <p:nvPr/>
        </p:nvSpPr>
        <p:spPr>
          <a:xfrm>
            <a:off x="7854696" y="19659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03</a:t>
            </a:r>
            <a:endParaRPr lang="en-US" sz="2000" dirty="0"/>
          </a:p>
        </p:txBody>
      </p:sp>
      <p:sp>
        <p:nvSpPr>
          <p:cNvPr id="21" name="Step 3 head"/>
          <p:cNvSpPr txBox="1"/>
          <p:nvPr/>
        </p:nvSpPr>
        <p:spPr>
          <a:xfrm>
            <a:off x="6528816" y="28346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Coordinate</a:t>
            </a:r>
            <a:endParaRPr lang="en-US" sz="2200" dirty="0"/>
          </a:p>
        </p:txBody>
      </p:sp>
      <p:sp>
        <p:nvSpPr>
          <p:cNvPr id="22" name="Step 3 text"/>
          <p:cNvSpPr txBox="1"/>
          <p:nvPr/>
        </p:nvSpPr>
        <p:spPr>
          <a:xfrm>
            <a:off x="6528816" y="3383280"/>
            <a:ext cx="1965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Sort out the details in a live conversation attached to the post.</a:t>
            </a:r>
            <a:endParaRPr lang="en-US" sz="1500" dirty="0"/>
          </a:p>
        </p:txBody>
      </p:sp>
      <p:sp>
        <p:nvSpPr>
          <p:cNvPr id="23" name="Arrow 3"/>
          <p:cNvSpPr/>
          <p:nvPr/>
        </p:nvSpPr>
        <p:spPr>
          <a:xfrm>
            <a:off x="8814816" y="2240280"/>
            <a:ext cx="246888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4" name="Step 4"/>
          <p:cNvSpPr/>
          <p:nvPr/>
        </p:nvSpPr>
        <p:spPr>
          <a:xfrm>
            <a:off x="9107424" y="1600200"/>
            <a:ext cx="2514600" cy="356616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Step 4 badge"/>
          <p:cNvSpPr/>
          <p:nvPr/>
        </p:nvSpPr>
        <p:spPr>
          <a:xfrm>
            <a:off x="9381744" y="1920240"/>
            <a:ext cx="640080" cy="640080"/>
          </a:xfrm>
          <a:prstGeom prst="ellipse">
            <a:avLst/>
          </a:prstGeom>
          <a:solidFill>
            <a:schemeClr val="accent1">
              <a:alpha val="12000"/>
            </a:schemeClr>
          </a:solidFill>
          <a:ln w="12700">
            <a:solidFill>
              <a:schemeClr val="accent1">
                <a:alpha val="12000"/>
              </a:schemeClr>
            </a:solidFill>
            <a:prstDash val="solid"/>
          </a:ln>
        </p:spPr>
      </p:sp>
      <p:pic>
        <p:nvPicPr>
          <p:cNvPr id="26" name="Step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5363" y="2073859"/>
            <a:ext cx="332842" cy="332842"/>
          </a:xfrm>
          <a:prstGeom prst="rect">
            <a:avLst/>
          </a:prstGeom>
        </p:spPr>
      </p:pic>
      <p:sp>
        <p:nvSpPr>
          <p:cNvPr id="27" name="Step 4 number"/>
          <p:cNvSpPr txBox="1"/>
          <p:nvPr/>
        </p:nvSpPr>
        <p:spPr>
          <a:xfrm>
            <a:off x="10707624" y="19659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04</a:t>
            </a:r>
            <a:endParaRPr lang="en-US" sz="2000" dirty="0"/>
          </a:p>
        </p:txBody>
      </p:sp>
      <p:sp>
        <p:nvSpPr>
          <p:cNvPr id="28" name="Step 4 head"/>
          <p:cNvSpPr txBox="1"/>
          <p:nvPr/>
        </p:nvSpPr>
        <p:spPr>
          <a:xfrm>
            <a:off x="9381744" y="28346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Complete</a:t>
            </a:r>
            <a:endParaRPr lang="en-US" sz="2200" dirty="0"/>
          </a:p>
        </p:txBody>
      </p:sp>
      <p:sp>
        <p:nvSpPr>
          <p:cNvPr id="29" name="Step 4 text"/>
          <p:cNvSpPr txBox="1"/>
          <p:nvPr/>
        </p:nvSpPr>
        <p:spPr>
          <a:xfrm>
            <a:off x="9381744" y="3383280"/>
            <a:ext cx="1965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Mark it done and send kudos. Kudos roll up into a neighbourhood Heroes board.</a:t>
            </a:r>
            <a:endParaRPr lang="en-US" sz="1500" dirty="0"/>
          </a:p>
        </p:txBody>
      </p:sp>
      <p:sp>
        <p:nvSpPr>
          <p:cNvPr id="30" name="Footnote"/>
          <p:cNvSpPr txBox="1"/>
          <p:nvPr/>
        </p:nvSpPr>
        <p:spPr>
          <a:xfrm>
            <a:off x="548640" y="5486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No email or password: neighbours join with a first name (anonymous Appwrite session).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 live map of who needs what, nearby</a:t>
            </a:r>
            <a:endParaRPr lang="en-US" sz="3200" dirty="0"/>
          </a:p>
        </p:txBody>
      </p:sp>
      <p:sp>
        <p:nvSpPr>
          <p:cNvPr id="3" name="Map screenshot frame"/>
          <p:cNvSpPr/>
          <p:nvPr/>
        </p:nvSpPr>
        <p:spPr>
          <a:xfrm>
            <a:off x="548640" y="1316736"/>
            <a:ext cx="7059168" cy="4453128"/>
          </a:xfrm>
          <a:prstGeom prst="roundRect">
            <a:avLst>
              <a:gd name="adj" fmla="val 2053"/>
            </a:avLst>
          </a:prstGeom>
          <a:solidFill>
            <a:schemeClr val="bg2"/>
          </a:solidFill>
          <a:ln w="9525">
            <a:solidFill>
              <a:srgbClr val="D4D4D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4" name="Map screensho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371600"/>
            <a:ext cx="6949440" cy="4343400"/>
          </a:xfrm>
          <a:prstGeom prst="rect">
            <a:avLst/>
          </a:prstGeom>
        </p:spPr>
      </p:pic>
      <p:sp>
        <p:nvSpPr>
          <p:cNvPr id="5" name="Point 1 badge"/>
          <p:cNvSpPr/>
          <p:nvPr/>
        </p:nvSpPr>
        <p:spPr>
          <a:xfrm>
            <a:off x="8001000" y="1371600"/>
            <a:ext cx="512064" cy="512064"/>
          </a:xfrm>
          <a:prstGeom prst="ellipse">
            <a:avLst/>
          </a:prstGeom>
          <a:solidFill>
            <a:schemeClr val="accent1">
              <a:alpha val="12000"/>
            </a:schemeClr>
          </a:solidFill>
          <a:ln w="12700">
            <a:solidFill>
              <a:schemeClr val="accent1">
                <a:alpha val="12000"/>
              </a:schemeClr>
            </a:solidFill>
            <a:prstDash val="solid"/>
          </a:ln>
        </p:spPr>
      </p:sp>
      <p:pic>
        <p:nvPicPr>
          <p:cNvPr id="6" name="Point 1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3895" y="1494495"/>
            <a:ext cx="266273" cy="266273"/>
          </a:xfrm>
          <a:prstGeom prst="rect">
            <a:avLst/>
          </a:prstGeom>
        </p:spPr>
      </p:pic>
      <p:sp>
        <p:nvSpPr>
          <p:cNvPr id="7" name="Point 1 head"/>
          <p:cNvSpPr txBox="1"/>
          <p:nvPr/>
        </p:nvSpPr>
        <p:spPr>
          <a:xfrm>
            <a:off x="8686800" y="135331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Radius search</a:t>
            </a:r>
            <a:endParaRPr lang="en-US" sz="1800" dirty="0"/>
          </a:p>
        </p:txBody>
      </p:sp>
      <p:sp>
        <p:nvSpPr>
          <p:cNvPr id="8" name="Point 1 text"/>
          <p:cNvSpPr txBox="1"/>
          <p:nvPr/>
        </p:nvSpPr>
        <p:spPr>
          <a:xfrm>
            <a:off x="8686800" y="1755648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The feed is every open post inside a radius you control, computed by the database.</a:t>
            </a:r>
            <a:endParaRPr lang="en-US" sz="1400" dirty="0"/>
          </a:p>
        </p:txBody>
      </p:sp>
      <p:sp>
        <p:nvSpPr>
          <p:cNvPr id="9" name="Point 2 badge"/>
          <p:cNvSpPr/>
          <p:nvPr/>
        </p:nvSpPr>
        <p:spPr>
          <a:xfrm>
            <a:off x="8001000" y="2834640"/>
            <a:ext cx="512064" cy="512064"/>
          </a:xfrm>
          <a:prstGeom prst="ellipse">
            <a:avLst/>
          </a:prstGeom>
          <a:solidFill>
            <a:schemeClr val="accent1">
              <a:alpha val="12000"/>
            </a:schemeClr>
          </a:solidFill>
          <a:ln w="12700">
            <a:solidFill>
              <a:schemeClr val="accent1">
                <a:alpha val="12000"/>
              </a:schemeClr>
            </a:solidFill>
            <a:prstDash val="solid"/>
          </a:ln>
        </p:spPr>
      </p:sp>
      <p:pic>
        <p:nvPicPr>
          <p:cNvPr id="10" name="Point 2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3895" y="2957535"/>
            <a:ext cx="266273" cy="266273"/>
          </a:xfrm>
          <a:prstGeom prst="rect">
            <a:avLst/>
          </a:prstGeom>
        </p:spPr>
      </p:pic>
      <p:sp>
        <p:nvSpPr>
          <p:cNvPr id="11" name="Point 2 head"/>
          <p:cNvSpPr txBox="1"/>
          <p:nvPr/>
        </p:nvSpPr>
        <p:spPr>
          <a:xfrm>
            <a:off x="8686800" y="281635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Neighbourhood pulse</a:t>
            </a:r>
            <a:endParaRPr lang="en-US" sz="1800" dirty="0"/>
          </a:p>
        </p:txBody>
      </p:sp>
      <p:sp>
        <p:nvSpPr>
          <p:cNvPr id="12" name="Point 2 text"/>
          <p:cNvSpPr txBox="1"/>
          <p:nvPr/>
        </p:nvSpPr>
        <p:spPr>
          <a:xfrm>
            <a:off x="8686800" y="3218688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Open posts per category and help completed this week, at a glance.</a:t>
            </a:r>
            <a:endParaRPr lang="en-US" sz="1400" dirty="0"/>
          </a:p>
        </p:txBody>
      </p:sp>
      <p:sp>
        <p:nvSpPr>
          <p:cNvPr id="13" name="Point 3 badge"/>
          <p:cNvSpPr/>
          <p:nvPr/>
        </p:nvSpPr>
        <p:spPr>
          <a:xfrm>
            <a:off x="8001000" y="4297680"/>
            <a:ext cx="512064" cy="512064"/>
          </a:xfrm>
          <a:prstGeom prst="ellipse">
            <a:avLst/>
          </a:prstGeom>
          <a:solidFill>
            <a:schemeClr val="accent1">
              <a:alpha val="12000"/>
            </a:schemeClr>
          </a:solidFill>
          <a:ln w="12700">
            <a:solidFill>
              <a:schemeClr val="accent1">
                <a:alpha val="12000"/>
              </a:schemeClr>
            </a:solidFill>
            <a:prstDash val="solid"/>
          </a:ln>
        </p:spPr>
      </p:sp>
      <p:pic>
        <p:nvPicPr>
          <p:cNvPr id="14" name="Point 3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3895" y="4420575"/>
            <a:ext cx="266273" cy="266273"/>
          </a:xfrm>
          <a:prstGeom prst="rect">
            <a:avLst/>
          </a:prstGeom>
        </p:spPr>
      </p:pic>
      <p:sp>
        <p:nvSpPr>
          <p:cNvPr id="15" name="Point 3 head"/>
          <p:cNvSpPr txBox="1"/>
          <p:nvPr/>
        </p:nvSpPr>
        <p:spPr>
          <a:xfrm>
            <a:off x="8686800" y="427939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Live updates</a:t>
            </a:r>
            <a:endParaRPr lang="en-US" sz="1800" dirty="0"/>
          </a:p>
        </p:txBody>
      </p:sp>
      <p:sp>
        <p:nvSpPr>
          <p:cNvPr id="16" name="Point 3 text"/>
          <p:cNvSpPr txBox="1"/>
          <p:nvPr/>
        </p:nvSpPr>
        <p:spPr>
          <a:xfrm>
            <a:off x="8686800" y="4681728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New pins, claims and messages appear for everyone instantly over Realtime.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Every feature runs on Appwrite TablesDB</a:t>
            </a:r>
            <a:endParaRPr lang="en-US" sz="3200" dirty="0"/>
          </a:p>
        </p:txBody>
      </p:sp>
      <p:sp>
        <p:nvSpPr>
          <p:cNvPr id="3" name="Feature 1"/>
          <p:cNvSpPr/>
          <p:nvPr/>
        </p:nvSpPr>
        <p:spPr>
          <a:xfrm>
            <a:off x="548640" y="1417320"/>
            <a:ext cx="2606040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Feature 1 badge"/>
          <p:cNvSpPr/>
          <p:nvPr/>
        </p:nvSpPr>
        <p:spPr>
          <a:xfrm>
            <a:off x="804672" y="1673352"/>
            <a:ext cx="512064" cy="512064"/>
          </a:xfrm>
          <a:prstGeom prst="ellipse">
            <a:avLst/>
          </a:prstGeom>
          <a:solidFill>
            <a:schemeClr val="accent1">
              <a:alpha val="12000"/>
            </a:schemeClr>
          </a:solidFill>
          <a:ln w="12700">
            <a:solidFill>
              <a:schemeClr val="accent1">
                <a:alpha val="12000"/>
              </a:schemeClr>
            </a:solidFill>
            <a:prstDash val="solid"/>
          </a:ln>
        </p:spPr>
      </p:sp>
      <p:pic>
        <p:nvPicPr>
          <p:cNvPr id="5" name="Feature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7567" y="1796247"/>
            <a:ext cx="266273" cy="266273"/>
          </a:xfrm>
          <a:prstGeom prst="rect">
            <a:avLst/>
          </a:prstGeom>
        </p:spPr>
      </p:pic>
      <p:sp>
        <p:nvSpPr>
          <p:cNvPr id="6" name="Feature 1 head"/>
          <p:cNvSpPr txBox="1"/>
          <p:nvPr/>
        </p:nvSpPr>
        <p:spPr>
          <a:xfrm>
            <a:off x="804672" y="231343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Spatial index</a:t>
            </a:r>
            <a:endParaRPr lang="en-US" sz="1700" dirty="0"/>
          </a:p>
        </p:txBody>
      </p:sp>
      <p:sp>
        <p:nvSpPr>
          <p:cNvPr id="7" name="Feature 1 text"/>
          <p:cNvSpPr txBox="1"/>
          <p:nvPr/>
        </p:nvSpPr>
        <p:spPr>
          <a:xfrm>
            <a:off x="804672" y="26974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Point column + distanceLessThan radius search</a:t>
            </a:r>
            <a:endParaRPr lang="en-US" sz="1300" dirty="0"/>
          </a:p>
        </p:txBody>
      </p:sp>
      <p:sp>
        <p:nvSpPr>
          <p:cNvPr id="8" name="Feature 2"/>
          <p:cNvSpPr/>
          <p:nvPr/>
        </p:nvSpPr>
        <p:spPr>
          <a:xfrm>
            <a:off x="3367735" y="1417320"/>
            <a:ext cx="2606040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Feature 2 badge"/>
          <p:cNvSpPr/>
          <p:nvPr/>
        </p:nvSpPr>
        <p:spPr>
          <a:xfrm>
            <a:off x="3623767" y="1673352"/>
            <a:ext cx="512064" cy="512064"/>
          </a:xfrm>
          <a:prstGeom prst="ellipse">
            <a:avLst/>
          </a:prstGeom>
          <a:solidFill>
            <a:schemeClr val="accent1">
              <a:alpha val="12000"/>
            </a:schemeClr>
          </a:solidFill>
          <a:ln w="12700">
            <a:solidFill>
              <a:schemeClr val="accent1">
                <a:alpha val="12000"/>
              </a:schemeClr>
            </a:solidFill>
            <a:prstDash val="solid"/>
          </a:ln>
        </p:spPr>
      </p:sp>
      <p:pic>
        <p:nvPicPr>
          <p:cNvPr id="10" name="Feature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6663" y="1796247"/>
            <a:ext cx="266273" cy="266273"/>
          </a:xfrm>
          <a:prstGeom prst="rect">
            <a:avLst/>
          </a:prstGeom>
        </p:spPr>
      </p:pic>
      <p:sp>
        <p:nvSpPr>
          <p:cNvPr id="11" name="Feature 2 head"/>
          <p:cNvSpPr txBox="1"/>
          <p:nvPr/>
        </p:nvSpPr>
        <p:spPr>
          <a:xfrm>
            <a:off x="3623767" y="231343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Full-text search</a:t>
            </a:r>
            <a:endParaRPr lang="en-US" sz="1700" dirty="0"/>
          </a:p>
        </p:txBody>
      </p:sp>
      <p:sp>
        <p:nvSpPr>
          <p:cNvPr id="12" name="Feature 2 text"/>
          <p:cNvSpPr txBox="1"/>
          <p:nvPr/>
        </p:nvSpPr>
        <p:spPr>
          <a:xfrm>
            <a:off x="3623767" y="26974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Fulltext index on titles, Query.search</a:t>
            </a:r>
            <a:endParaRPr lang="en-US" sz="1300" dirty="0"/>
          </a:p>
        </p:txBody>
      </p:sp>
      <p:sp>
        <p:nvSpPr>
          <p:cNvPr id="13" name="Feature 3"/>
          <p:cNvSpPr/>
          <p:nvPr/>
        </p:nvSpPr>
        <p:spPr>
          <a:xfrm>
            <a:off x="6186830" y="1417320"/>
            <a:ext cx="2606040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Feature 3 badge"/>
          <p:cNvSpPr/>
          <p:nvPr/>
        </p:nvSpPr>
        <p:spPr>
          <a:xfrm>
            <a:off x="6442862" y="1673352"/>
            <a:ext cx="512064" cy="512064"/>
          </a:xfrm>
          <a:prstGeom prst="ellipse">
            <a:avLst/>
          </a:prstGeom>
          <a:solidFill>
            <a:schemeClr val="accent1">
              <a:alpha val="12000"/>
            </a:schemeClr>
          </a:solidFill>
          <a:ln w="12700">
            <a:solidFill>
              <a:schemeClr val="accent1">
                <a:alpha val="12000"/>
              </a:schemeClr>
            </a:solidFill>
            <a:prstDash val="solid"/>
          </a:ln>
        </p:spPr>
      </p:sp>
      <p:pic>
        <p:nvPicPr>
          <p:cNvPr id="15" name="Feature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758" y="1796247"/>
            <a:ext cx="266273" cy="266273"/>
          </a:xfrm>
          <a:prstGeom prst="rect">
            <a:avLst/>
          </a:prstGeom>
        </p:spPr>
      </p:pic>
      <p:sp>
        <p:nvSpPr>
          <p:cNvPr id="16" name="Feature 3 head"/>
          <p:cNvSpPr txBox="1"/>
          <p:nvPr/>
        </p:nvSpPr>
        <p:spPr>
          <a:xfrm>
            <a:off x="6442862" y="231343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Relationships</a:t>
            </a:r>
            <a:endParaRPr lang="en-US" sz="1700" dirty="0"/>
          </a:p>
        </p:txBody>
      </p:sp>
      <p:sp>
        <p:nvSpPr>
          <p:cNvPr id="17" name="Feature 3 text"/>
          <p:cNvSpPr txBox="1"/>
          <p:nvPr/>
        </p:nvSpPr>
        <p:spPr>
          <a:xfrm>
            <a:off x="6442862" y="26974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posts → messages (cascade), posts → kudos</a:t>
            </a:r>
            <a:endParaRPr lang="en-US" sz="1300" dirty="0"/>
          </a:p>
        </p:txBody>
      </p:sp>
      <p:sp>
        <p:nvSpPr>
          <p:cNvPr id="18" name="Feature 4"/>
          <p:cNvSpPr/>
          <p:nvPr/>
        </p:nvSpPr>
        <p:spPr>
          <a:xfrm>
            <a:off x="9005926" y="1417320"/>
            <a:ext cx="2606040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Feature 4 badge"/>
          <p:cNvSpPr/>
          <p:nvPr/>
        </p:nvSpPr>
        <p:spPr>
          <a:xfrm>
            <a:off x="9261958" y="1673352"/>
            <a:ext cx="512064" cy="512064"/>
          </a:xfrm>
          <a:prstGeom prst="ellipse">
            <a:avLst/>
          </a:prstGeom>
          <a:solidFill>
            <a:schemeClr val="accent1">
              <a:alpha val="12000"/>
            </a:schemeClr>
          </a:solidFill>
          <a:ln w="12700">
            <a:solidFill>
              <a:schemeClr val="accent1">
                <a:alpha val="12000"/>
              </a:schemeClr>
            </a:solidFill>
            <a:prstDash val="solid"/>
          </a:ln>
        </p:spPr>
      </p:sp>
      <p:pic>
        <p:nvPicPr>
          <p:cNvPr id="20" name="Feature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4853" y="1796247"/>
            <a:ext cx="266273" cy="266273"/>
          </a:xfrm>
          <a:prstGeom prst="rect">
            <a:avLst/>
          </a:prstGeom>
        </p:spPr>
      </p:pic>
      <p:sp>
        <p:nvSpPr>
          <p:cNvPr id="21" name="Feature 4 head"/>
          <p:cNvSpPr txBox="1"/>
          <p:nvPr/>
        </p:nvSpPr>
        <p:spPr>
          <a:xfrm>
            <a:off x="9261958" y="231343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Transactions</a:t>
            </a:r>
            <a:endParaRPr lang="en-US" sz="1700" dirty="0"/>
          </a:p>
        </p:txBody>
      </p:sp>
      <p:sp>
        <p:nvSpPr>
          <p:cNvPr id="22" name="Feature 4 text"/>
          <p:cNvSpPr txBox="1"/>
          <p:nvPr/>
        </p:nvSpPr>
        <p:spPr>
          <a:xfrm>
            <a:off x="9261958" y="26974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Race-safe claiming with conflict detection</a:t>
            </a:r>
            <a:endParaRPr lang="en-US" sz="1300" dirty="0"/>
          </a:p>
        </p:txBody>
      </p:sp>
      <p:sp>
        <p:nvSpPr>
          <p:cNvPr id="23" name="Feature 5"/>
          <p:cNvSpPr/>
          <p:nvPr/>
        </p:nvSpPr>
        <p:spPr>
          <a:xfrm>
            <a:off x="548640" y="3657600"/>
            <a:ext cx="2606040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Feature 5 badge"/>
          <p:cNvSpPr/>
          <p:nvPr/>
        </p:nvSpPr>
        <p:spPr>
          <a:xfrm>
            <a:off x="804672" y="3913632"/>
            <a:ext cx="512064" cy="512064"/>
          </a:xfrm>
          <a:prstGeom prst="ellipse">
            <a:avLst/>
          </a:prstGeom>
          <a:solidFill>
            <a:schemeClr val="accent1">
              <a:alpha val="12000"/>
            </a:schemeClr>
          </a:solidFill>
          <a:ln w="12700">
            <a:solidFill>
              <a:schemeClr val="accent1">
                <a:alpha val="12000"/>
              </a:schemeClr>
            </a:solidFill>
            <a:prstDash val="solid"/>
          </a:ln>
        </p:spPr>
      </p:sp>
      <p:pic>
        <p:nvPicPr>
          <p:cNvPr id="25" name="Feature 5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567" y="4036527"/>
            <a:ext cx="266273" cy="266273"/>
          </a:xfrm>
          <a:prstGeom prst="rect">
            <a:avLst/>
          </a:prstGeom>
        </p:spPr>
      </p:pic>
      <p:sp>
        <p:nvSpPr>
          <p:cNvPr id="26" name="Feature 5 head"/>
          <p:cNvSpPr txBox="1"/>
          <p:nvPr/>
        </p:nvSpPr>
        <p:spPr>
          <a:xfrm>
            <a:off x="804672" y="455371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Batch operations</a:t>
            </a:r>
            <a:endParaRPr lang="en-US" sz="1700" dirty="0"/>
          </a:p>
        </p:txBody>
      </p:sp>
      <p:sp>
        <p:nvSpPr>
          <p:cNvPr id="27" name="Feature 5 text"/>
          <p:cNvSpPr txBox="1"/>
          <p:nvPr/>
        </p:nvSpPr>
        <p:spPr>
          <a:xfrm>
            <a:off x="804672" y="493776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createOperations: 4 writes, 3 tables, 1 commit</a:t>
            </a:r>
            <a:endParaRPr lang="en-US" sz="1300" dirty="0"/>
          </a:p>
        </p:txBody>
      </p:sp>
      <p:sp>
        <p:nvSpPr>
          <p:cNvPr id="28" name="Feature 6"/>
          <p:cNvSpPr/>
          <p:nvPr/>
        </p:nvSpPr>
        <p:spPr>
          <a:xfrm>
            <a:off x="3367735" y="3657600"/>
            <a:ext cx="2606040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Feature 6 badge"/>
          <p:cNvSpPr/>
          <p:nvPr/>
        </p:nvSpPr>
        <p:spPr>
          <a:xfrm>
            <a:off x="3623767" y="3913632"/>
            <a:ext cx="512064" cy="512064"/>
          </a:xfrm>
          <a:prstGeom prst="ellipse">
            <a:avLst/>
          </a:prstGeom>
          <a:solidFill>
            <a:schemeClr val="accent1">
              <a:alpha val="12000"/>
            </a:schemeClr>
          </a:solidFill>
          <a:ln w="12700">
            <a:solidFill>
              <a:schemeClr val="accent1">
                <a:alpha val="12000"/>
              </a:schemeClr>
            </a:solidFill>
            <a:prstDash val="solid"/>
          </a:ln>
        </p:spPr>
      </p:sp>
      <p:pic>
        <p:nvPicPr>
          <p:cNvPr id="30" name="Feature 6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6663" y="4036527"/>
            <a:ext cx="266273" cy="266273"/>
          </a:xfrm>
          <a:prstGeom prst="rect">
            <a:avLst/>
          </a:prstGeom>
        </p:spPr>
      </p:pic>
      <p:sp>
        <p:nvSpPr>
          <p:cNvPr id="31" name="Feature 6 head"/>
          <p:cNvSpPr txBox="1"/>
          <p:nvPr/>
        </p:nvSpPr>
        <p:spPr>
          <a:xfrm>
            <a:off x="3623767" y="455371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Atomic operators</a:t>
            </a:r>
            <a:endParaRPr lang="en-US" sz="1700" dirty="0"/>
          </a:p>
        </p:txBody>
      </p:sp>
      <p:sp>
        <p:nvSpPr>
          <p:cNvPr id="32" name="Feature 6 text"/>
          <p:cNvSpPr txBox="1"/>
          <p:nvPr/>
        </p:nvSpPr>
        <p:spPr>
          <a:xfrm>
            <a:off x="3623767" y="493776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incrementRowColumn and Operator.increment</a:t>
            </a:r>
            <a:endParaRPr lang="en-US" sz="1300" dirty="0"/>
          </a:p>
        </p:txBody>
      </p:sp>
      <p:sp>
        <p:nvSpPr>
          <p:cNvPr id="33" name="Feature 7"/>
          <p:cNvSpPr/>
          <p:nvPr/>
        </p:nvSpPr>
        <p:spPr>
          <a:xfrm>
            <a:off x="6186830" y="3657600"/>
            <a:ext cx="2606040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Feature 7 badge"/>
          <p:cNvSpPr/>
          <p:nvPr/>
        </p:nvSpPr>
        <p:spPr>
          <a:xfrm>
            <a:off x="6442862" y="3913632"/>
            <a:ext cx="512064" cy="512064"/>
          </a:xfrm>
          <a:prstGeom prst="ellipse">
            <a:avLst/>
          </a:prstGeom>
          <a:solidFill>
            <a:schemeClr val="accent1">
              <a:alpha val="12000"/>
            </a:schemeClr>
          </a:solidFill>
          <a:ln w="12700">
            <a:solidFill>
              <a:schemeClr val="accent1">
                <a:alpha val="12000"/>
              </a:schemeClr>
            </a:solidFill>
            <a:prstDash val="solid"/>
          </a:ln>
        </p:spPr>
      </p:sp>
      <p:pic>
        <p:nvPicPr>
          <p:cNvPr id="35" name="Feature 7 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5758" y="4036527"/>
            <a:ext cx="266273" cy="266273"/>
          </a:xfrm>
          <a:prstGeom prst="rect">
            <a:avLst/>
          </a:prstGeom>
        </p:spPr>
      </p:pic>
      <p:sp>
        <p:nvSpPr>
          <p:cNvPr id="36" name="Feature 7 head"/>
          <p:cNvSpPr txBox="1"/>
          <p:nvPr/>
        </p:nvSpPr>
        <p:spPr>
          <a:xfrm>
            <a:off x="6442862" y="455371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Aggregations</a:t>
            </a:r>
            <a:endParaRPr lang="en-US" sz="1700" dirty="0"/>
          </a:p>
        </p:txBody>
      </p:sp>
      <p:sp>
        <p:nvSpPr>
          <p:cNvPr id="37" name="Feature 7 text"/>
          <p:cNvSpPr txBox="1"/>
          <p:nvPr/>
        </p:nvSpPr>
        <p:spPr>
          <a:xfrm>
            <a:off x="6442862" y="493776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groupBy + count / sum for pulse and Heroes</a:t>
            </a:r>
            <a:endParaRPr lang="en-US" sz="1300" dirty="0"/>
          </a:p>
        </p:txBody>
      </p:sp>
      <p:sp>
        <p:nvSpPr>
          <p:cNvPr id="38" name="Feature 8"/>
          <p:cNvSpPr/>
          <p:nvPr/>
        </p:nvSpPr>
        <p:spPr>
          <a:xfrm>
            <a:off x="9005926" y="3657600"/>
            <a:ext cx="2606040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9" name="Feature 8 badge"/>
          <p:cNvSpPr/>
          <p:nvPr/>
        </p:nvSpPr>
        <p:spPr>
          <a:xfrm>
            <a:off x="9261958" y="3913632"/>
            <a:ext cx="512064" cy="512064"/>
          </a:xfrm>
          <a:prstGeom prst="ellipse">
            <a:avLst/>
          </a:prstGeom>
          <a:solidFill>
            <a:schemeClr val="accent1">
              <a:alpha val="12000"/>
            </a:schemeClr>
          </a:solidFill>
          <a:ln w="12700">
            <a:solidFill>
              <a:schemeClr val="accent1">
                <a:alpha val="12000"/>
              </a:schemeClr>
            </a:solidFill>
            <a:prstDash val="solid"/>
          </a:ln>
        </p:spPr>
      </p:sp>
      <p:pic>
        <p:nvPicPr>
          <p:cNvPr id="40" name="Feature 8 icon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84853" y="4036527"/>
            <a:ext cx="266273" cy="266273"/>
          </a:xfrm>
          <a:prstGeom prst="rect">
            <a:avLst/>
          </a:prstGeom>
        </p:spPr>
      </p:pic>
      <p:sp>
        <p:nvSpPr>
          <p:cNvPr id="41" name="Feature 8 head"/>
          <p:cNvSpPr txBox="1"/>
          <p:nvPr/>
        </p:nvSpPr>
        <p:spPr>
          <a:xfrm>
            <a:off x="9261958" y="455371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Realtime</a:t>
            </a:r>
            <a:endParaRPr lang="en-US" sz="1700" dirty="0"/>
          </a:p>
        </p:txBody>
      </p:sp>
      <p:sp>
        <p:nvSpPr>
          <p:cNvPr id="42" name="Feature 8 text"/>
          <p:cNvSpPr txBox="1"/>
          <p:nvPr/>
        </p:nvSpPr>
        <p:spPr>
          <a:xfrm>
            <a:off x="9261958" y="493776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One socket on posts, messages and kudos rows</a:t>
            </a:r>
            <a:endParaRPr lang="en-US" sz="1300" dirty="0"/>
          </a:p>
        </p:txBody>
      </p:sp>
      <p:sp>
        <p:nvSpPr>
          <p:cNvPr id="43" name="Footnote"/>
          <p:cNvSpPr txBox="1"/>
          <p:nvPr/>
        </p:nvSpPr>
        <p:spPr>
          <a:xfrm>
            <a:off x="548640" y="58978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Row security and permissions throughout: anyone reads, signed-in neighbours write, authors own deletes.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Three tables, linked by relationships</a:t>
            </a:r>
            <a:endParaRPr lang="en-US" sz="3200" dirty="0"/>
          </a:p>
        </p:txBody>
      </p:sp>
      <p:sp>
        <p:nvSpPr>
          <p:cNvPr id="3" name="posts table"/>
          <p:cNvSpPr/>
          <p:nvPr/>
        </p:nvSpPr>
        <p:spPr>
          <a:xfrm>
            <a:off x="548640" y="1371600"/>
            <a:ext cx="3931920" cy="3648456"/>
          </a:xfrm>
          <a:prstGeom prst="roundRect">
            <a:avLst>
              <a:gd name="adj" fmla="val 300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posts header"/>
          <p:cNvSpPr/>
          <p:nvPr/>
        </p:nvSpPr>
        <p:spPr>
          <a:xfrm>
            <a:off x="548640" y="1371600"/>
            <a:ext cx="3931920" cy="502920"/>
          </a:xfrm>
          <a:prstGeom prst="roundRect">
            <a:avLst>
              <a:gd name="adj" fmla="val 2181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posts header base"/>
          <p:cNvSpPr/>
          <p:nvPr/>
        </p:nvSpPr>
        <p:spPr>
          <a:xfrm>
            <a:off x="548640" y="1691640"/>
            <a:ext cx="3931920" cy="18288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posts title"/>
          <p:cNvSpPr txBox="1"/>
          <p:nvPr/>
        </p:nvSpPr>
        <p:spPr>
          <a:xfrm>
            <a:off x="777240" y="13716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posts</a:t>
            </a:r>
            <a:endParaRPr lang="en-US" sz="1600" dirty="0"/>
          </a:p>
        </p:txBody>
      </p:sp>
      <p:sp>
        <p:nvSpPr>
          <p:cNvPr id="7" name="posts columns"/>
          <p:cNvSpPr txBox="1"/>
          <p:nvPr/>
        </p:nvSpPr>
        <p:spPr>
          <a:xfrm>
            <a:off x="777240" y="1965960"/>
            <a:ext cx="3474720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5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kind</a:t>
            </a:r>
            <a:pPr indent="0" marL="0">
              <a:spcAft>
                <a:spcPts val="45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  enum request | offer</a:t>
            </a:r>
            <a:endParaRPr lang="en-US" sz="1300" dirty="0"/>
          </a:p>
          <a:p>
            <a:pPr indent="0" marL="0">
              <a:spcAft>
                <a:spcPts val="45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category</a:t>
            </a:r>
            <a:pPr indent="0" marL="0">
              <a:spcAft>
                <a:spcPts val="45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  enum, 8 values</a:t>
            </a:r>
            <a:endParaRPr lang="en-US" sz="1300" dirty="0"/>
          </a:p>
          <a:p>
            <a:pPr indent="0" marL="0">
              <a:spcAft>
                <a:spcPts val="45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title / body</a:t>
            </a:r>
            <a:pPr indent="0" marL="0">
              <a:spcAft>
                <a:spcPts val="45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  varchar 120 / text</a:t>
            </a:r>
            <a:endParaRPr lang="en-US" sz="1300" dirty="0"/>
          </a:p>
          <a:p>
            <a:pPr indent="0" marL="0">
              <a:spcAft>
                <a:spcPts val="45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location</a:t>
            </a:r>
            <a:pPr indent="0" marL="0">
              <a:spcAft>
                <a:spcPts val="45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  point  [lng, lat]</a:t>
            </a:r>
            <a:endParaRPr lang="en-US" sz="1300" dirty="0"/>
          </a:p>
          <a:p>
            <a:pPr indent="0" marL="0">
              <a:spcAft>
                <a:spcPts val="45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status</a:t>
            </a:r>
            <a:pPr indent="0" marL="0">
              <a:spcAft>
                <a:spcPts val="45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  enum open | claimed | done</a:t>
            </a:r>
            <a:endParaRPr lang="en-US" sz="1300" dirty="0"/>
          </a:p>
          <a:p>
            <a:pPr indent="0" marL="0">
              <a:spcAft>
                <a:spcPts val="45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urgency</a:t>
            </a:r>
            <a:pPr indent="0" marL="0">
              <a:spcAft>
                <a:spcPts val="45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  enum low | normal | high</a:t>
            </a:r>
            <a:endParaRPr lang="en-US" sz="1300" dirty="0"/>
          </a:p>
          <a:p>
            <a:pPr indent="0" marL="0">
              <a:spcAft>
                <a:spcPts val="45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author / helper</a:t>
            </a:r>
            <a:pPr indent="0" marL="0">
              <a:spcAft>
                <a:spcPts val="45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  id + name</a:t>
            </a:r>
            <a:endParaRPr lang="en-US" sz="1300" dirty="0"/>
          </a:p>
          <a:p>
            <a:pPr indent="0" marL="0">
              <a:spcAft>
                <a:spcPts val="45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hearts / replies</a:t>
            </a:r>
            <a:pPr indent="0" marL="0">
              <a:spcAft>
                <a:spcPts val="45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  integer counters, min 0</a:t>
            </a:r>
            <a:endParaRPr lang="en-US" sz="1300" dirty="0"/>
          </a:p>
          <a:p>
            <a:pPr indent="0" marL="0">
              <a:spcAft>
                <a:spcPts val="45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expiresAt</a:t>
            </a:r>
            <a:pPr indent="0" marL="0">
              <a:spcAft>
                <a:spcPts val="45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  datetime</a:t>
            </a:r>
            <a:endParaRPr lang="en-US" sz="1300" dirty="0"/>
          </a:p>
        </p:txBody>
      </p:sp>
      <p:sp>
        <p:nvSpPr>
          <p:cNvPr id="8" name="messages table"/>
          <p:cNvSpPr/>
          <p:nvPr/>
        </p:nvSpPr>
        <p:spPr>
          <a:xfrm>
            <a:off x="7223760" y="1371600"/>
            <a:ext cx="4389120" cy="2002536"/>
          </a:xfrm>
          <a:prstGeom prst="roundRect">
            <a:avLst>
              <a:gd name="adj" fmla="val 547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messages header"/>
          <p:cNvSpPr/>
          <p:nvPr/>
        </p:nvSpPr>
        <p:spPr>
          <a:xfrm>
            <a:off x="7223760" y="1371600"/>
            <a:ext cx="4389120" cy="502920"/>
          </a:xfrm>
          <a:prstGeom prst="roundRect">
            <a:avLst>
              <a:gd name="adj" fmla="val 2181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messages header base"/>
          <p:cNvSpPr/>
          <p:nvPr/>
        </p:nvSpPr>
        <p:spPr>
          <a:xfrm>
            <a:off x="7223760" y="1691640"/>
            <a:ext cx="4389120" cy="1828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messages title"/>
          <p:cNvSpPr txBox="1"/>
          <p:nvPr/>
        </p:nvSpPr>
        <p:spPr>
          <a:xfrm>
            <a:off x="7452360" y="13716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messages</a:t>
            </a:r>
            <a:endParaRPr lang="en-US" sz="1600" dirty="0"/>
          </a:p>
        </p:txBody>
      </p:sp>
      <p:sp>
        <p:nvSpPr>
          <p:cNvPr id="12" name="messages columns"/>
          <p:cNvSpPr txBox="1"/>
          <p:nvPr/>
        </p:nvSpPr>
        <p:spPr>
          <a:xfrm>
            <a:off x="7452360" y="1965960"/>
            <a:ext cx="393192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5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post</a:t>
            </a:r>
            <a:pPr indent="0" marL="0">
              <a:spcAft>
                <a:spcPts val="45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  relationship → posts</a:t>
            </a:r>
            <a:endParaRPr lang="en-US" sz="1300" dirty="0"/>
          </a:p>
          <a:p>
            <a:pPr indent="0" marL="0">
              <a:spcAft>
                <a:spcPts val="45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authorId / authorName</a:t>
            </a:r>
            <a:pPr indent="0" marL="0">
              <a:spcAft>
                <a:spcPts val="45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  varchar</a:t>
            </a:r>
            <a:endParaRPr lang="en-US" sz="1300" dirty="0"/>
          </a:p>
          <a:p>
            <a:pPr indent="0" marL="0">
              <a:spcAft>
                <a:spcPts val="45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body</a:t>
            </a:r>
            <a:pPr indent="0" marL="0">
              <a:spcAft>
                <a:spcPts val="45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  varchar 1000</a:t>
            </a:r>
            <a:endParaRPr lang="en-US" sz="1300" dirty="0"/>
          </a:p>
          <a:p>
            <a:pPr indent="0" marL="0">
              <a:spcAft>
                <a:spcPts val="45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system</a:t>
            </a:r>
            <a:pPr indent="0" marL="0">
              <a:spcAft>
                <a:spcPts val="45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  boolean</a:t>
            </a:r>
            <a:endParaRPr lang="en-US" sz="1300" dirty="0"/>
          </a:p>
        </p:txBody>
      </p:sp>
      <p:sp>
        <p:nvSpPr>
          <p:cNvPr id="13" name="kudos table"/>
          <p:cNvSpPr/>
          <p:nvPr/>
        </p:nvSpPr>
        <p:spPr>
          <a:xfrm>
            <a:off x="7223760" y="3657600"/>
            <a:ext cx="4389120" cy="2002536"/>
          </a:xfrm>
          <a:prstGeom prst="roundRect">
            <a:avLst>
              <a:gd name="adj" fmla="val 547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kudos header"/>
          <p:cNvSpPr/>
          <p:nvPr/>
        </p:nvSpPr>
        <p:spPr>
          <a:xfrm>
            <a:off x="7223760" y="3657600"/>
            <a:ext cx="4389120" cy="502920"/>
          </a:xfrm>
          <a:prstGeom prst="roundRect">
            <a:avLst>
              <a:gd name="adj" fmla="val 2181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kudos header base"/>
          <p:cNvSpPr/>
          <p:nvPr/>
        </p:nvSpPr>
        <p:spPr>
          <a:xfrm>
            <a:off x="7223760" y="3977640"/>
            <a:ext cx="4389120" cy="1828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kudos title"/>
          <p:cNvSpPr txBox="1"/>
          <p:nvPr/>
        </p:nvSpPr>
        <p:spPr>
          <a:xfrm>
            <a:off x="7452360" y="36576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kudos</a:t>
            </a:r>
            <a:endParaRPr lang="en-US" sz="1600" dirty="0"/>
          </a:p>
        </p:txBody>
      </p:sp>
      <p:sp>
        <p:nvSpPr>
          <p:cNvPr id="17" name="kudos columns"/>
          <p:cNvSpPr txBox="1"/>
          <p:nvPr/>
        </p:nvSpPr>
        <p:spPr>
          <a:xfrm>
            <a:off x="7452360" y="4251960"/>
            <a:ext cx="393192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5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post</a:t>
            </a:r>
            <a:pPr indent="0" marL="0">
              <a:spcAft>
                <a:spcPts val="45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  relationship → posts</a:t>
            </a:r>
            <a:endParaRPr lang="en-US" sz="1300" dirty="0"/>
          </a:p>
          <a:p>
            <a:pPr indent="0" marL="0">
              <a:spcAft>
                <a:spcPts val="45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from / to</a:t>
            </a:r>
            <a:pPr indent="0" marL="0">
              <a:spcAft>
                <a:spcPts val="45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  id + name</a:t>
            </a:r>
            <a:endParaRPr lang="en-US" sz="1300" dirty="0"/>
          </a:p>
          <a:p>
            <a:pPr indent="0" marL="0">
              <a:spcAft>
                <a:spcPts val="45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points</a:t>
            </a:r>
            <a:pPr indent="0" marL="0">
              <a:spcAft>
                <a:spcPts val="45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  integer 1 – 5</a:t>
            </a:r>
            <a:endParaRPr lang="en-US" sz="1300" dirty="0"/>
          </a:p>
          <a:p>
            <a:pPr indent="0" marL="0">
              <a:spcAft>
                <a:spcPts val="45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note</a:t>
            </a:r>
            <a:pPr indent="0" marL="0">
              <a:spcAft>
                <a:spcPts val="45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  varchar 280</a:t>
            </a:r>
            <a:endParaRPr lang="en-US" sz="1300" dirty="0"/>
          </a:p>
        </p:txBody>
      </p:sp>
      <p:sp>
        <p:nvSpPr>
          <p:cNvPr id="18" name="Rel messages"/>
          <p:cNvSpPr/>
          <p:nvPr/>
        </p:nvSpPr>
        <p:spPr>
          <a:xfrm>
            <a:off x="4526280" y="2011680"/>
            <a:ext cx="2651760" cy="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9" name="Rel messages label"/>
          <p:cNvSpPr txBox="1"/>
          <p:nvPr/>
        </p:nvSpPr>
        <p:spPr>
          <a:xfrm>
            <a:off x="4572000" y="16459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1 → many  ·  cascade</a:t>
            </a:r>
            <a:endParaRPr lang="en-US" sz="1200" dirty="0"/>
          </a:p>
        </p:txBody>
      </p:sp>
      <p:sp>
        <p:nvSpPr>
          <p:cNvPr id="20" name="Rel kudos"/>
          <p:cNvSpPr/>
          <p:nvPr/>
        </p:nvSpPr>
        <p:spPr>
          <a:xfrm>
            <a:off x="4526280" y="4297680"/>
            <a:ext cx="265176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1" name="Rel kudos label"/>
          <p:cNvSpPr txBox="1"/>
          <p:nvPr/>
        </p:nvSpPr>
        <p:spPr>
          <a:xfrm>
            <a:off x="4572000" y="39319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 → many  ·  set null</a:t>
            </a:r>
            <a:endParaRPr lang="en-US" sz="1200" dirty="0"/>
          </a:p>
        </p:txBody>
      </p:sp>
      <p:sp>
        <p:nvSpPr>
          <p:cNvPr id="22" name="Indexes"/>
          <p:cNvSpPr txBox="1"/>
          <p:nvPr/>
        </p:nvSpPr>
        <p:spPr>
          <a:xfrm>
            <a:off x="548640" y="57607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Indexes  </a:t>
            </a:r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spatial (location) · fulltext (title) · key (status, $createdAt) · key (category) · key (authorId) · key (helperId) · key (kudos.toId)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Claims are race-safe by design</a:t>
            </a:r>
            <a:endParaRPr lang="en-US" sz="3200" dirty="0"/>
          </a:p>
        </p:txBody>
      </p:sp>
      <p:sp>
        <p:nvSpPr>
          <p:cNvPr id="3" name="Tx step 1"/>
          <p:cNvSpPr/>
          <p:nvPr/>
        </p:nvSpPr>
        <p:spPr>
          <a:xfrm>
            <a:off x="548640" y="1463040"/>
            <a:ext cx="256032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x step 1 head"/>
          <p:cNvSpPr txBox="1"/>
          <p:nvPr/>
        </p:nvSpPr>
        <p:spPr>
          <a:xfrm>
            <a:off x="777240" y="1691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createTransaction</a:t>
            </a:r>
            <a:endParaRPr lang="en-US" sz="1600" dirty="0"/>
          </a:p>
        </p:txBody>
      </p:sp>
      <p:sp>
        <p:nvSpPr>
          <p:cNvPr id="5" name="Tx step 1 text"/>
          <p:cNvSpPr txBox="1"/>
          <p:nvPr/>
        </p:nvSpPr>
        <p:spPr>
          <a:xfrm>
            <a:off x="777240" y="21488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Open a short-lived transaction (60 s TTL)</a:t>
            </a:r>
            <a:endParaRPr lang="en-US" sz="1400" dirty="0"/>
          </a:p>
        </p:txBody>
      </p:sp>
      <p:sp>
        <p:nvSpPr>
          <p:cNvPr id="6" name="Tx arrow 1"/>
          <p:cNvSpPr/>
          <p:nvPr/>
        </p:nvSpPr>
        <p:spPr>
          <a:xfrm>
            <a:off x="3136392" y="2258568"/>
            <a:ext cx="219456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7" name="Tx step 2"/>
          <p:cNvSpPr/>
          <p:nvPr/>
        </p:nvSpPr>
        <p:spPr>
          <a:xfrm>
            <a:off x="3383280" y="1463040"/>
            <a:ext cx="256032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x step 2 head"/>
          <p:cNvSpPr txBox="1"/>
          <p:nvPr/>
        </p:nvSpPr>
        <p:spPr>
          <a:xfrm>
            <a:off x="3611880" y="1691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getRow</a:t>
            </a:r>
            <a:endParaRPr lang="en-US" sz="1600" dirty="0"/>
          </a:p>
        </p:txBody>
      </p:sp>
      <p:sp>
        <p:nvSpPr>
          <p:cNvPr id="9" name="Tx step 2 text"/>
          <p:cNvSpPr txBox="1"/>
          <p:nvPr/>
        </p:nvSpPr>
        <p:spPr>
          <a:xfrm>
            <a:off x="3611880" y="21488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Read the post inside it and check it is still open</a:t>
            </a:r>
            <a:endParaRPr lang="en-US" sz="1400" dirty="0"/>
          </a:p>
        </p:txBody>
      </p:sp>
      <p:sp>
        <p:nvSpPr>
          <p:cNvPr id="10" name="Tx arrow 2"/>
          <p:cNvSpPr/>
          <p:nvPr/>
        </p:nvSpPr>
        <p:spPr>
          <a:xfrm>
            <a:off x="5971032" y="2258568"/>
            <a:ext cx="219456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1" name="Tx step 3"/>
          <p:cNvSpPr/>
          <p:nvPr/>
        </p:nvSpPr>
        <p:spPr>
          <a:xfrm>
            <a:off x="6217920" y="1463040"/>
            <a:ext cx="256032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x step 3 head"/>
          <p:cNvSpPr txBox="1"/>
          <p:nvPr/>
        </p:nvSpPr>
        <p:spPr>
          <a:xfrm>
            <a:off x="6446520" y="1691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 writes</a:t>
            </a:r>
            <a:endParaRPr lang="en-US" sz="1600" dirty="0"/>
          </a:p>
        </p:txBody>
      </p:sp>
      <p:sp>
        <p:nvSpPr>
          <p:cNvPr id="13" name="Tx step 3 text"/>
          <p:cNvSpPr txBox="1"/>
          <p:nvPr/>
        </p:nvSpPr>
        <p:spPr>
          <a:xfrm>
            <a:off x="6446520" y="21488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Claim the post, add a system message, bump replies</a:t>
            </a:r>
            <a:endParaRPr lang="en-US" sz="1400" dirty="0"/>
          </a:p>
        </p:txBody>
      </p:sp>
      <p:sp>
        <p:nvSpPr>
          <p:cNvPr id="14" name="Tx arrow 3"/>
          <p:cNvSpPr/>
          <p:nvPr/>
        </p:nvSpPr>
        <p:spPr>
          <a:xfrm>
            <a:off x="8805672" y="2258568"/>
            <a:ext cx="219456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5" name="Tx step 4"/>
          <p:cNvSpPr/>
          <p:nvPr/>
        </p:nvSpPr>
        <p:spPr>
          <a:xfrm>
            <a:off x="9052560" y="1463040"/>
            <a:ext cx="256032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x step 4 head"/>
          <p:cNvSpPr txBox="1"/>
          <p:nvPr/>
        </p:nvSpPr>
        <p:spPr>
          <a:xfrm>
            <a:off x="9281160" y="1691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</a:t>
            </a:r>
            <a:endParaRPr lang="en-US" sz="1600" dirty="0"/>
          </a:p>
        </p:txBody>
      </p:sp>
      <p:sp>
        <p:nvSpPr>
          <p:cNvPr id="17" name="Tx step 4 text"/>
          <p:cNvSpPr txBox="1"/>
          <p:nvPr/>
        </p:nvSpPr>
        <p:spPr>
          <a:xfrm>
            <a:off x="9281160" y="21488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All staged writes apply together</a:t>
            </a:r>
            <a:endParaRPr lang="en-US" sz="1400" dirty="0"/>
          </a:p>
        </p:txBody>
      </p:sp>
      <p:sp>
        <p:nvSpPr>
          <p:cNvPr id="18" name="Conflict box"/>
          <p:cNvSpPr/>
          <p:nvPr/>
        </p:nvSpPr>
        <p:spPr>
          <a:xfrm>
            <a:off x="548640" y="3429000"/>
            <a:ext cx="5486400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9" name="Conflict badge"/>
          <p:cNvSpPr/>
          <p:nvPr/>
        </p:nvSpPr>
        <p:spPr>
          <a:xfrm>
            <a:off x="822960" y="3703320"/>
            <a:ext cx="512064" cy="512064"/>
          </a:xfrm>
          <a:prstGeom prst="ellipse">
            <a:avLst/>
          </a:prstGeom>
          <a:solidFill>
            <a:schemeClr val="accent1">
              <a:alpha val="12000"/>
            </a:schemeClr>
          </a:solidFill>
          <a:ln w="12700">
            <a:solidFill>
              <a:schemeClr val="accent1">
                <a:alpha val="12000"/>
              </a:schemeClr>
            </a:solidFill>
            <a:prstDash val="solid"/>
          </a:ln>
        </p:spPr>
      </p:sp>
      <p:pic>
        <p:nvPicPr>
          <p:cNvPr id="20" name="Conflict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855" y="3826215"/>
            <a:ext cx="266273" cy="266273"/>
          </a:xfrm>
          <a:prstGeom prst="rect">
            <a:avLst/>
          </a:prstGeom>
        </p:spPr>
      </p:pic>
      <p:sp>
        <p:nvSpPr>
          <p:cNvPr id="21" name="Conflict head"/>
          <p:cNvSpPr txBox="1"/>
          <p:nvPr/>
        </p:nvSpPr>
        <p:spPr>
          <a:xfrm>
            <a:off x="1508760" y="370332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Two neighbours tap at the same moment</a:t>
            </a:r>
            <a:endParaRPr lang="en-US" sz="1700" dirty="0"/>
          </a:p>
        </p:txBody>
      </p:sp>
      <p:sp>
        <p:nvSpPr>
          <p:cNvPr id="22" name="Conflict text"/>
          <p:cNvSpPr txBox="1"/>
          <p:nvPr/>
        </p:nvSpPr>
        <p:spPr>
          <a:xfrm>
            <a:off x="1508760" y="4206240"/>
            <a:ext cx="4343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The second commit is rejected with 409 transaction_conflict and rolled back. The first claimer is kept, and the UI says “someone claimed this a moment before you”.</a:t>
            </a:r>
            <a:endParaRPr lang="en-US" sz="1400" dirty="0"/>
          </a:p>
        </p:txBody>
      </p:sp>
      <p:sp>
        <p:nvSpPr>
          <p:cNvPr id="23" name="Batch box"/>
          <p:cNvSpPr/>
          <p:nvPr/>
        </p:nvSpPr>
        <p:spPr>
          <a:xfrm>
            <a:off x="6309360" y="3429000"/>
            <a:ext cx="530352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Batch badge"/>
          <p:cNvSpPr/>
          <p:nvPr/>
        </p:nvSpPr>
        <p:spPr>
          <a:xfrm>
            <a:off x="6583680" y="3703320"/>
            <a:ext cx="512064" cy="512064"/>
          </a:xfrm>
          <a:prstGeom prst="ellipse">
            <a:avLst/>
          </a:prstGeom>
          <a:solidFill>
            <a:schemeClr val="accent1">
              <a:alpha val="12000"/>
            </a:schemeClr>
          </a:solidFill>
          <a:ln w="12700">
            <a:solidFill>
              <a:schemeClr val="accent1">
                <a:alpha val="12000"/>
              </a:schemeClr>
            </a:solidFill>
            <a:prstDash val="solid"/>
          </a:ln>
        </p:spPr>
      </p:sp>
      <p:pic>
        <p:nvPicPr>
          <p:cNvPr id="25" name="Batch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6575" y="3826215"/>
            <a:ext cx="266273" cy="266273"/>
          </a:xfrm>
          <a:prstGeom prst="rect">
            <a:avLst/>
          </a:prstGeom>
        </p:spPr>
      </p:pic>
      <p:sp>
        <p:nvSpPr>
          <p:cNvPr id="26" name="Batch head"/>
          <p:cNvSpPr txBox="1"/>
          <p:nvPr/>
        </p:nvSpPr>
        <p:spPr>
          <a:xfrm>
            <a:off x="7269480" y="37033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Completion is one batch</a:t>
            </a:r>
            <a:endParaRPr lang="en-US" sz="1700" dirty="0"/>
          </a:p>
        </p:txBody>
      </p:sp>
      <p:sp>
        <p:nvSpPr>
          <p:cNvPr id="27" name="Batch text"/>
          <p:cNvSpPr txBox="1"/>
          <p:nvPr/>
        </p:nvSpPr>
        <p:spPr>
          <a:xfrm>
            <a:off x="7269480" y="4206240"/>
            <a:ext cx="4114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createOperations stages four writes across three tables: post → done, a kudos row, a thank-you message and a reply counter. One commit, all or nothing.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Query Inspector makes the database visible</a:t>
            </a:r>
            <a:endParaRPr lang="en-US" sz="3200" dirty="0"/>
          </a:p>
        </p:txBody>
      </p:sp>
      <p:sp>
        <p:nvSpPr>
          <p:cNvPr id="3" name="Lead"/>
          <p:cNvSpPr txBox="1"/>
          <p:nvPr/>
        </p:nvSpPr>
        <p:spPr>
          <a:xfrm>
            <a:off x="548640" y="1417320"/>
            <a:ext cx="4023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 live panel that logs every TablesDB call the page makes, rendered as the SDK call that built it, with timings.</a:t>
            </a:r>
            <a:endParaRPr lang="en-US" sz="1700" dirty="0"/>
          </a:p>
        </p:txBody>
      </p:sp>
      <p:sp>
        <p:nvSpPr>
          <p:cNvPr id="4" name="Inspector points"/>
          <p:cNvSpPr txBox="1"/>
          <p:nvPr/>
        </p:nvSpPr>
        <p:spPr>
          <a:xfrm>
            <a:off x="548640" y="2697480"/>
            <a:ext cx="4023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Queries, transactions and batches step by step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Realtime pushes as they arrive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Rollbacks and errors highlighted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Lets judges verify every claim in this deck while using the app</a:t>
            </a:r>
            <a:endParaRPr lang="en-US" sz="1500" dirty="0"/>
          </a:p>
        </p:txBody>
      </p:sp>
      <p:sp>
        <p:nvSpPr>
          <p:cNvPr id="5" name="Inspector screenshot frame"/>
          <p:cNvSpPr/>
          <p:nvPr/>
        </p:nvSpPr>
        <p:spPr>
          <a:xfrm>
            <a:off x="4882896" y="1316736"/>
            <a:ext cx="6784848" cy="4279392"/>
          </a:xfrm>
          <a:prstGeom prst="roundRect">
            <a:avLst>
              <a:gd name="adj" fmla="val 2137"/>
            </a:avLst>
          </a:prstGeom>
          <a:solidFill>
            <a:schemeClr val="bg2"/>
          </a:solidFill>
          <a:ln w="9525">
            <a:solidFill>
              <a:srgbClr val="D4D4D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6" name="Inspector screensho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371600"/>
            <a:ext cx="6675120" cy="416966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Verified end to end on Appwrite Cloud</a:t>
            </a:r>
            <a:endParaRPr lang="en-US" sz="3200" dirty="0"/>
          </a:p>
        </p:txBody>
      </p:sp>
      <p:sp>
        <p:nvSpPr>
          <p:cNvPr id="3" name="Stat 1"/>
          <p:cNvSpPr/>
          <p:nvPr/>
        </p:nvSpPr>
        <p:spPr>
          <a:xfrm>
            <a:off x="548640" y="1600200"/>
            <a:ext cx="2606040" cy="30632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at 1 value"/>
          <p:cNvSpPr txBox="1"/>
          <p:nvPr/>
        </p:nvSpPr>
        <p:spPr>
          <a:xfrm>
            <a:off x="822960" y="192024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13 / 13</a:t>
            </a:r>
            <a:endParaRPr lang="en-US" sz="4400" dirty="0"/>
          </a:p>
        </p:txBody>
      </p:sp>
      <p:sp>
        <p:nvSpPr>
          <p:cNvPr id="5" name="Stat 1 label"/>
          <p:cNvSpPr txBox="1"/>
          <p:nvPr/>
        </p:nvSpPr>
        <p:spPr>
          <a:xfrm>
            <a:off x="822960" y="288036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smoke checks pass</a:t>
            </a:r>
            <a:endParaRPr lang="en-US" sz="1600" dirty="0"/>
          </a:p>
        </p:txBody>
      </p:sp>
      <p:sp>
        <p:nvSpPr>
          <p:cNvPr id="6" name="Stat 1 text"/>
          <p:cNvSpPr txBox="1"/>
          <p:nvPr/>
        </p:nvSpPr>
        <p:spPr>
          <a:xfrm>
            <a:off x="822960" y="3383280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npm run smoke exercises every TablesDB feature against a live project</a:t>
            </a:r>
            <a:endParaRPr lang="en-US" sz="1300" dirty="0"/>
          </a:p>
        </p:txBody>
      </p:sp>
      <p:sp>
        <p:nvSpPr>
          <p:cNvPr id="7" name="Stat 2"/>
          <p:cNvSpPr/>
          <p:nvPr/>
        </p:nvSpPr>
        <p:spPr>
          <a:xfrm>
            <a:off x="3367735" y="1600200"/>
            <a:ext cx="2606040" cy="30632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tat 2 value"/>
          <p:cNvSpPr txBox="1"/>
          <p:nvPr/>
        </p:nvSpPr>
        <p:spPr>
          <a:xfrm>
            <a:off x="3642055" y="192024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2</a:t>
            </a:r>
            <a:endParaRPr lang="en-US" sz="4400" dirty="0"/>
          </a:p>
        </p:txBody>
      </p:sp>
      <p:sp>
        <p:nvSpPr>
          <p:cNvPr id="9" name="Stat 2 label"/>
          <p:cNvSpPr txBox="1"/>
          <p:nvPr/>
        </p:nvSpPr>
        <p:spPr>
          <a:xfrm>
            <a:off x="3642055" y="288036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live browsers in e2e</a:t>
            </a:r>
            <a:endParaRPr lang="en-US" sz="1600" dirty="0"/>
          </a:p>
        </p:txBody>
      </p:sp>
      <p:sp>
        <p:nvSpPr>
          <p:cNvPr id="10" name="Stat 2 text"/>
          <p:cNvSpPr txBox="1"/>
          <p:nvPr/>
        </p:nvSpPr>
        <p:spPr>
          <a:xfrm>
            <a:off x="3642055" y="3383280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Post, realtime delivery, claim, chat, completion and kudos between two real users</a:t>
            </a:r>
            <a:endParaRPr lang="en-US" sz="1300" dirty="0"/>
          </a:p>
        </p:txBody>
      </p:sp>
      <p:sp>
        <p:nvSpPr>
          <p:cNvPr id="11" name="Stat 3"/>
          <p:cNvSpPr/>
          <p:nvPr/>
        </p:nvSpPr>
        <p:spPr>
          <a:xfrm>
            <a:off x="6186830" y="1600200"/>
            <a:ext cx="2606040" cy="30632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tat 3 value"/>
          <p:cNvSpPr txBox="1"/>
          <p:nvPr/>
        </p:nvSpPr>
        <p:spPr>
          <a:xfrm>
            <a:off x="6461150" y="192024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0</a:t>
            </a:r>
            <a:endParaRPr lang="en-US" sz="4400" dirty="0"/>
          </a:p>
        </p:txBody>
      </p:sp>
      <p:sp>
        <p:nvSpPr>
          <p:cNvPr id="13" name="Stat 3 label"/>
          <p:cNvSpPr txBox="1"/>
          <p:nvPr/>
        </p:nvSpPr>
        <p:spPr>
          <a:xfrm>
            <a:off x="6461150" y="288036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custom servers</a:t>
            </a:r>
            <a:endParaRPr lang="en-US" sz="1600" dirty="0"/>
          </a:p>
        </p:txBody>
      </p:sp>
      <p:sp>
        <p:nvSpPr>
          <p:cNvPr id="14" name="Stat 3 text"/>
          <p:cNvSpPr txBox="1"/>
          <p:nvPr/>
        </p:nvSpPr>
        <p:spPr>
          <a:xfrm>
            <a:off x="6461150" y="3383280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The browser talks to TablesDB directly; permissions are enforced by Appwrite</a:t>
            </a:r>
            <a:endParaRPr lang="en-US" sz="1300" dirty="0"/>
          </a:p>
        </p:txBody>
      </p:sp>
      <p:sp>
        <p:nvSpPr>
          <p:cNvPr id="15" name="Stat 4"/>
          <p:cNvSpPr/>
          <p:nvPr/>
        </p:nvSpPr>
        <p:spPr>
          <a:xfrm>
            <a:off x="9005926" y="1600200"/>
            <a:ext cx="2606040" cy="30632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tat 4 value"/>
          <p:cNvSpPr txBox="1"/>
          <p:nvPr/>
        </p:nvSpPr>
        <p:spPr>
          <a:xfrm>
            <a:off x="9280246" y="192024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3 · 8 · 2</a:t>
            </a:r>
            <a:endParaRPr lang="en-US" sz="4400" dirty="0"/>
          </a:p>
        </p:txBody>
      </p:sp>
      <p:sp>
        <p:nvSpPr>
          <p:cNvPr id="17" name="Stat 4 label"/>
          <p:cNvSpPr txBox="1"/>
          <p:nvPr/>
        </p:nvSpPr>
        <p:spPr>
          <a:xfrm>
            <a:off x="9280246" y="288036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schema at a glance</a:t>
            </a:r>
            <a:endParaRPr lang="en-US" sz="1600" dirty="0"/>
          </a:p>
        </p:txBody>
      </p:sp>
      <p:sp>
        <p:nvSpPr>
          <p:cNvPr id="18" name="Stat 4 text"/>
          <p:cNvSpPr txBox="1"/>
          <p:nvPr/>
        </p:nvSpPr>
        <p:spPr>
          <a:xfrm>
            <a:off x="9280246" y="3383280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3 tables, 8 indexes and 2 relationships, provisioned by an idempotent setup script</a:t>
            </a:r>
            <a:endParaRPr lang="en-US" sz="1300" dirty="0"/>
          </a:p>
        </p:txBody>
      </p:sp>
      <p:sp>
        <p:nvSpPr>
          <p:cNvPr id="19" name="Footnote"/>
          <p:cNvSpPr txBox="1"/>
          <p:nvPr/>
        </p:nvSpPr>
        <p:spPr>
          <a:xfrm>
            <a:off x="548640" y="5074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Deployed on Appwrite Cloud (Singapore region). Light and dark themes, desktop and phone layouts.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What comes next</a:t>
            </a:r>
            <a:endParaRPr lang="en-US" sz="3200" dirty="0"/>
          </a:p>
        </p:txBody>
      </p:sp>
      <p:sp>
        <p:nvSpPr>
          <p:cNvPr id="3" name="Dark mode screenshot frame"/>
          <p:cNvSpPr/>
          <p:nvPr/>
        </p:nvSpPr>
        <p:spPr>
          <a:xfrm>
            <a:off x="5934456" y="1545336"/>
            <a:ext cx="5733288" cy="3621024"/>
          </a:xfrm>
          <a:prstGeom prst="roundRect">
            <a:avLst>
              <a:gd name="adj" fmla="val 2525"/>
            </a:avLst>
          </a:prstGeom>
          <a:solidFill>
            <a:schemeClr val="bg2"/>
          </a:solidFill>
          <a:ln w="9525">
            <a:solidFill>
              <a:srgbClr val="D4D4D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4" name="Dark mode screensho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600200"/>
            <a:ext cx="5623560" cy="3511296"/>
          </a:xfrm>
          <a:prstGeom prst="rect">
            <a:avLst/>
          </a:prstGeom>
        </p:spPr>
      </p:pic>
      <p:sp>
        <p:nvSpPr>
          <p:cNvPr id="5" name="Next 1 badge"/>
          <p:cNvSpPr/>
          <p:nvPr/>
        </p:nvSpPr>
        <p:spPr>
          <a:xfrm>
            <a:off x="548640" y="1463040"/>
            <a:ext cx="512064" cy="512064"/>
          </a:xfrm>
          <a:prstGeom prst="ellipse">
            <a:avLst/>
          </a:prstGeom>
          <a:solidFill>
            <a:schemeClr val="accent1">
              <a:alpha val="12000"/>
            </a:schemeClr>
          </a:solidFill>
          <a:ln w="12700">
            <a:solidFill>
              <a:schemeClr val="accent1">
                <a:alpha val="12000"/>
              </a:schemeClr>
            </a:solidFill>
            <a:prstDash val="solid"/>
          </a:ln>
        </p:spPr>
      </p:sp>
      <p:pic>
        <p:nvPicPr>
          <p:cNvPr id="6" name="Next 1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35" y="1585935"/>
            <a:ext cx="266273" cy="266273"/>
          </a:xfrm>
          <a:prstGeom prst="rect">
            <a:avLst/>
          </a:prstGeom>
        </p:spPr>
      </p:pic>
      <p:sp>
        <p:nvSpPr>
          <p:cNvPr id="7" name="Next 1 head"/>
          <p:cNvSpPr txBox="1"/>
          <p:nvPr/>
        </p:nvSpPr>
        <p:spPr>
          <a:xfrm>
            <a:off x="1234440" y="14447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Auto-expiry</a:t>
            </a:r>
            <a:endParaRPr lang="en-US" sz="1700" dirty="0"/>
          </a:p>
        </p:txBody>
      </p:sp>
      <p:sp>
        <p:nvSpPr>
          <p:cNvPr id="8" name="Next 1 text"/>
          <p:cNvSpPr txBox="1"/>
          <p:nvPr/>
        </p:nvSpPr>
        <p:spPr>
          <a:xfrm>
            <a:off x="1234440" y="182880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Appwrite Functions on a schedule to close posts past their expiry.</a:t>
            </a:r>
            <a:endParaRPr lang="en-US" sz="1400" dirty="0"/>
          </a:p>
        </p:txBody>
      </p:sp>
      <p:sp>
        <p:nvSpPr>
          <p:cNvPr id="9" name="Next 2 badge"/>
          <p:cNvSpPr/>
          <p:nvPr/>
        </p:nvSpPr>
        <p:spPr>
          <a:xfrm>
            <a:off x="548640" y="2651760"/>
            <a:ext cx="512064" cy="512064"/>
          </a:xfrm>
          <a:prstGeom prst="ellipse">
            <a:avLst/>
          </a:prstGeom>
          <a:solidFill>
            <a:schemeClr val="accent1">
              <a:alpha val="12000"/>
            </a:schemeClr>
          </a:solidFill>
          <a:ln w="12700">
            <a:solidFill>
              <a:schemeClr val="accent1">
                <a:alpha val="12000"/>
              </a:schemeClr>
            </a:solidFill>
            <a:prstDash val="solid"/>
          </a:ln>
        </p:spPr>
      </p:sp>
      <p:pic>
        <p:nvPicPr>
          <p:cNvPr id="10" name="Next 2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35" y="2774655"/>
            <a:ext cx="266273" cy="266273"/>
          </a:xfrm>
          <a:prstGeom prst="rect">
            <a:avLst/>
          </a:prstGeom>
        </p:spPr>
      </p:pic>
      <p:sp>
        <p:nvSpPr>
          <p:cNvPr id="11" name="Next 2 head"/>
          <p:cNvSpPr txBox="1"/>
          <p:nvPr/>
        </p:nvSpPr>
        <p:spPr>
          <a:xfrm>
            <a:off x="1234440" y="263347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Nearby alerts</a:t>
            </a:r>
            <a:endParaRPr lang="en-US" sz="1700" dirty="0"/>
          </a:p>
        </p:txBody>
      </p:sp>
      <p:sp>
        <p:nvSpPr>
          <p:cNvPr id="12" name="Next 2 text"/>
          <p:cNvSpPr txBox="1"/>
          <p:nvPr/>
        </p:nvSpPr>
        <p:spPr>
          <a:xfrm>
            <a:off x="1234440" y="301752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Appwrite Messaging push when an urgent request appears within your radius.</a:t>
            </a:r>
            <a:endParaRPr lang="en-US" sz="1400" dirty="0"/>
          </a:p>
        </p:txBody>
      </p:sp>
      <p:sp>
        <p:nvSpPr>
          <p:cNvPr id="13" name="Next 3 badge"/>
          <p:cNvSpPr/>
          <p:nvPr/>
        </p:nvSpPr>
        <p:spPr>
          <a:xfrm>
            <a:off x="548640" y="3840480"/>
            <a:ext cx="512064" cy="512064"/>
          </a:xfrm>
          <a:prstGeom prst="ellipse">
            <a:avLst/>
          </a:prstGeom>
          <a:solidFill>
            <a:schemeClr val="accent1">
              <a:alpha val="12000"/>
            </a:schemeClr>
          </a:solidFill>
          <a:ln w="12700">
            <a:solidFill>
              <a:schemeClr val="accent1">
                <a:alpha val="12000"/>
              </a:schemeClr>
            </a:solidFill>
            <a:prstDash val="solid"/>
          </a:ln>
        </p:spPr>
      </p:sp>
      <p:pic>
        <p:nvPicPr>
          <p:cNvPr id="14" name="Next 3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535" y="3963375"/>
            <a:ext cx="266273" cy="266273"/>
          </a:xfrm>
          <a:prstGeom prst="rect">
            <a:avLst/>
          </a:prstGeom>
        </p:spPr>
      </p:pic>
      <p:sp>
        <p:nvSpPr>
          <p:cNvPr id="15" name="Next 3 head"/>
          <p:cNvSpPr txBox="1"/>
          <p:nvPr/>
        </p:nvSpPr>
        <p:spPr>
          <a:xfrm>
            <a:off x="1234440" y="382219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Verified neighbourhoods</a:t>
            </a:r>
            <a:endParaRPr lang="en-US" sz="1700" dirty="0"/>
          </a:p>
        </p:txBody>
      </p:sp>
      <p:sp>
        <p:nvSpPr>
          <p:cNvPr id="16" name="Next 3 text"/>
          <p:cNvSpPr txBox="1"/>
          <p:nvPr/>
        </p:nvSpPr>
        <p:spPr>
          <a:xfrm>
            <a:off x="1234440" y="420624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Appwrite Teams for buildings and societies, with private boards.</a:t>
            </a:r>
            <a:endParaRPr lang="en-US" sz="1400" dirty="0"/>
          </a:p>
        </p:txBody>
      </p:sp>
      <p:sp>
        <p:nvSpPr>
          <p:cNvPr id="17" name="Next 4 badge"/>
          <p:cNvSpPr/>
          <p:nvPr/>
        </p:nvSpPr>
        <p:spPr>
          <a:xfrm>
            <a:off x="548640" y="5029200"/>
            <a:ext cx="512064" cy="512064"/>
          </a:xfrm>
          <a:prstGeom prst="ellipse">
            <a:avLst/>
          </a:prstGeom>
          <a:solidFill>
            <a:schemeClr val="accent1">
              <a:alpha val="12000"/>
            </a:schemeClr>
          </a:solidFill>
          <a:ln w="12700">
            <a:solidFill>
              <a:schemeClr val="accent1">
                <a:alpha val="12000"/>
              </a:schemeClr>
            </a:solidFill>
            <a:prstDash val="solid"/>
          </a:ln>
        </p:spPr>
      </p:sp>
      <p:pic>
        <p:nvPicPr>
          <p:cNvPr id="18" name="Next 4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535" y="5152095"/>
            <a:ext cx="266273" cy="266273"/>
          </a:xfrm>
          <a:prstGeom prst="rect">
            <a:avLst/>
          </a:prstGeom>
        </p:spPr>
      </p:pic>
      <p:sp>
        <p:nvSpPr>
          <p:cNvPr id="19" name="Next 4 head"/>
          <p:cNvSpPr txBox="1"/>
          <p:nvPr/>
        </p:nvSpPr>
        <p:spPr>
          <a:xfrm>
            <a:off x="1234440" y="50109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Trust and safety</a:t>
            </a:r>
            <a:endParaRPr lang="en-US" sz="1700" dirty="0"/>
          </a:p>
        </p:txBody>
      </p:sp>
      <p:sp>
        <p:nvSpPr>
          <p:cNvPr id="20" name="Next 4 text"/>
          <p:cNvSpPr txBox="1"/>
          <p:nvPr/>
        </p:nvSpPr>
        <p:spPr>
          <a:xfrm>
            <a:off x="1234440" y="539496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Reporting, moderation queue and rate limits per user.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868680"/>
            <a:ext cx="685800" cy="6858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1691640"/>
            <a:ext cx="6126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Help is closer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than you think</a:t>
            </a:r>
            <a:endParaRPr lang="en-US" sz="4000" dirty="0"/>
          </a:p>
        </p:txBody>
      </p:sp>
      <p:pic>
        <p:nvPicPr>
          <p:cNvPr id="4" name="Source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474720"/>
            <a:ext cx="347472" cy="347472"/>
          </a:xfrm>
          <a:prstGeom prst="rect">
            <a:avLst/>
          </a:prstGeom>
        </p:spPr>
      </p:pic>
      <p:sp>
        <p:nvSpPr>
          <p:cNvPr id="5" name="Source label"/>
          <p:cNvSpPr txBox="1"/>
          <p:nvPr/>
        </p:nvSpPr>
        <p:spPr>
          <a:xfrm>
            <a:off x="1234440" y="34290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Source</a:t>
            </a:r>
            <a:endParaRPr lang="en-US" sz="1600" dirty="0"/>
          </a:p>
        </p:txBody>
      </p:sp>
      <p:sp>
        <p:nvSpPr>
          <p:cNvPr id="6" name="Source value"/>
          <p:cNvSpPr txBox="1"/>
          <p:nvPr/>
        </p:nvSpPr>
        <p:spPr>
          <a:xfrm>
            <a:off x="2514600" y="34290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github.com/sanjaysaini383/appwrite</a:t>
            </a:r>
            <a:endParaRPr lang="en-US" sz="1600" dirty="0"/>
          </a:p>
        </p:txBody>
      </p:sp>
      <p:pic>
        <p:nvPicPr>
          <p:cNvPr id="7" name="Demo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160520"/>
            <a:ext cx="347472" cy="347472"/>
          </a:xfrm>
          <a:prstGeom prst="rect">
            <a:avLst/>
          </a:prstGeom>
        </p:spPr>
      </p:pic>
      <p:sp>
        <p:nvSpPr>
          <p:cNvPr id="8" name="Demo label"/>
          <p:cNvSpPr txBox="1"/>
          <p:nvPr/>
        </p:nvSpPr>
        <p:spPr>
          <a:xfrm>
            <a:off x="1234440" y="41148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Demo</a:t>
            </a:r>
            <a:endParaRPr lang="en-US" sz="1600" dirty="0"/>
          </a:p>
        </p:txBody>
      </p:sp>
      <p:sp>
        <p:nvSpPr>
          <p:cNvPr id="9" name="Demo value"/>
          <p:cNvSpPr txBox="1"/>
          <p:nvPr/>
        </p:nvSpPr>
        <p:spPr>
          <a:xfrm>
            <a:off x="2514600" y="41148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90-second walkthrough video</a:t>
            </a:r>
            <a:endParaRPr lang="en-US" sz="1600" dirty="0"/>
          </a:p>
        </p:txBody>
      </p:sp>
      <p:pic>
        <p:nvPicPr>
          <p:cNvPr id="10" name="Run it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846320"/>
            <a:ext cx="347472" cy="347472"/>
          </a:xfrm>
          <a:prstGeom prst="rect">
            <a:avLst/>
          </a:prstGeom>
        </p:spPr>
      </p:pic>
      <p:sp>
        <p:nvSpPr>
          <p:cNvPr id="11" name="Run it label"/>
          <p:cNvSpPr txBox="1"/>
          <p:nvPr/>
        </p:nvSpPr>
        <p:spPr>
          <a:xfrm>
            <a:off x="1234440" y="48006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Run it</a:t>
            </a:r>
            <a:endParaRPr lang="en-US" sz="1600" dirty="0"/>
          </a:p>
        </p:txBody>
      </p:sp>
      <p:sp>
        <p:nvSpPr>
          <p:cNvPr id="12" name="Run it value"/>
          <p:cNvSpPr txBox="1"/>
          <p:nvPr/>
        </p:nvSpPr>
        <p:spPr>
          <a:xfrm>
            <a:off x="2514600" y="48006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npm run setup / seed / dev</a:t>
            </a:r>
            <a:endParaRPr lang="en-US" sz="1600" dirty="0"/>
          </a:p>
        </p:txBody>
      </p:sp>
      <p:sp>
        <p:nvSpPr>
          <p:cNvPr id="13" name="Closing screenshot frame"/>
          <p:cNvSpPr/>
          <p:nvPr/>
        </p:nvSpPr>
        <p:spPr>
          <a:xfrm>
            <a:off x="7031736" y="1682496"/>
            <a:ext cx="4864608" cy="3081528"/>
          </a:xfrm>
          <a:prstGeom prst="roundRect">
            <a:avLst>
              <a:gd name="adj" fmla="val 2967"/>
            </a:avLst>
          </a:prstGeom>
          <a:solidFill>
            <a:schemeClr val="bg2"/>
          </a:solidFill>
          <a:ln w="9525">
            <a:solidFill>
              <a:srgbClr val="D4D4D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14" name="Closing screenshot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0" y="1737360"/>
            <a:ext cx="4754880" cy="2971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Hearth">
  <a:themeElements>
    <a:clrScheme name="Hearth">
      <a:dk1>
        <a:srgbClr val="18181B"/>
      </a:dk1>
      <a:lt1>
        <a:srgbClr val="FFFFFF"/>
      </a:lt1>
      <a:dk2>
        <a:srgbClr val="52525B"/>
      </a:dk2>
      <a:lt2>
        <a:srgbClr val="F4F4F5"/>
      </a:lt2>
      <a:accent1>
        <a:srgbClr val="EA580C"/>
      </a:accent1>
      <a:accent2>
        <a:srgbClr val="0D9488"/>
      </a:accent2>
      <a:accent3>
        <a:srgbClr val="2563EB"/>
      </a:accent3>
      <a:accent4>
        <a:srgbClr val="7C3AED"/>
      </a:accent4>
      <a:accent5>
        <a:srgbClr val="16A34A"/>
      </a:accent5>
      <a:accent6>
        <a:srgbClr val="DB2777"/>
      </a:accent6>
      <a:hlink>
        <a:srgbClr val="EA580C"/>
      </a:hlink>
      <a:folHlink>
        <a:srgbClr val="9A3412"/>
      </a:folHlink>
    </a:clrScheme>
    <a:fontScheme name="Hearth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Hearth: hyperlocal mutual aid on Appwrite TablesDB</dc:title>
  <dc:subject>Appwrite Databases Hackathon 2026</dc:subject>
  <dc:creator>Sanjay Saini</dc:creator>
  <cp:lastModifiedBy>Sanjay Saini</cp:lastModifiedBy>
  <cp:revision>1</cp:revision>
  <dcterms:created xsi:type="dcterms:W3CDTF">2026-10-22T23:16:40Z</dcterms:created>
  <dcterms:modified xsi:type="dcterms:W3CDTF">2026-10-22T23:16:40Z</dcterms:modified>
</cp:coreProperties>
</file>